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Germany</c:v>
                </c:pt>
              </c:strCache>
            </c:strRef>
          </c:tx>
          <c:spPr>
            <a:ln w="44450">
              <a:solidFill>
                <a:srgbClr val="7031C5"/>
              </a:solidFill>
            </a:ln>
          </c:spPr>
          <c:marker>
            <c:symbol val="circle"/>
            <c:size val="9"/>
            <c:spPr>
              <a:solidFill>
                <a:srgbClr val="7031C5"/>
              </a:solidFill>
              <a:ln>
                <a:solidFill>
                  <a:srgbClr val="7031C5"/>
                </a:solidFill>
              </a:ln>
            </c:spPr>
          </c:marker>
          <c:dLbls>
            <c:numFmt formatCode="0.0" sourceLinked="0"/>
            <c:txPr>
              <a:bodyPr/>
              <a:lstStyle/>
              <a:p>
                <a:pPr>
                  <a:defRPr sz="1300"/>
                </a:pPr>
              </a:p>
            </c:txPr>
            <c:dLblPos val="t"/>
            <c:showLegendKey val="0"/>
            <c:showVal val="1"/>
            <c:showCatName val="0"/>
            <c:showSerName val="0"/>
            <c:showPercent val="0"/>
            <c:showBubbleSize val="0"/>
            <c:showLeaderLines val="1"/>
          </c:dLbls>
          <c:cat>
            <c:strRef>
              <c:f>Sheet1!$A$2:$A$6</c:f>
              <c:strCache>
                <c:ptCount val="5"/>
                <c:pt idx="0">
                  <c:v>2007</c:v>
                </c:pt>
                <c:pt idx="1">
                  <c:v>2008</c:v>
                </c:pt>
                <c:pt idx="2">
                  <c:v>2009</c:v>
                </c:pt>
                <c:pt idx="3">
                  <c:v>2010</c:v>
                </c:pt>
                <c:pt idx="4">
                  <c:v>2011</c:v>
                </c:pt>
              </c:strCache>
            </c:strRef>
          </c:cat>
          <c:val>
            <c:numRef>
              <c:f>Sheet1!$B$2:$B$6</c:f>
              <c:numCache>
                <c:formatCode>General</c:formatCode>
                <c:ptCount val="5"/>
                <c:pt idx="0">
                  <c:v>31.0</c:v>
                </c:pt>
                <c:pt idx="1">
                  <c:v>31.4</c:v>
                </c:pt>
                <c:pt idx="2">
                  <c:v>31.8</c:v>
                </c:pt>
                <c:pt idx="3">
                  <c:v>34.2</c:v>
                </c:pt>
                <c:pt idx="4">
                  <c:v>35.1</c:v>
                </c:pt>
              </c:numCache>
            </c:numRef>
          </c:val>
          <c:smooth val="0"/>
        </c:ser>
        <c:ser>
          <c:idx val="1"/>
          <c:order val="1"/>
          <c:tx>
            <c:strRef>
              <c:f>Sheet1!$C$1</c:f>
              <c:strCache>
                <c:ptCount val="1"/>
                <c:pt idx="0">
                  <c:v>United States</c:v>
                </c:pt>
              </c:strCache>
            </c:strRef>
          </c:tx>
          <c:spPr>
            <a:ln w="44450">
              <a:solidFill>
                <a:srgbClr val="EC5A96"/>
              </a:solidFill>
            </a:ln>
          </c:spPr>
          <c:marker>
            <c:symbol val="circle"/>
            <c:size val="9"/>
            <c:spPr>
              <a:solidFill>
                <a:srgbClr val="EC5A96"/>
              </a:solidFill>
              <a:ln>
                <a:solidFill>
                  <a:srgbClr val="EC5A96"/>
                </a:solidFill>
              </a:ln>
            </c:spPr>
          </c:marker>
          <c:dLbls>
            <c:numFmt formatCode="0.0" sourceLinked="0"/>
            <c:txPr>
              <a:bodyPr/>
              <a:lstStyle/>
              <a:p>
                <a:pPr>
                  <a:defRPr sz="1300"/>
                </a:pPr>
              </a:p>
            </c:txPr>
            <c:dLblPos val="b"/>
            <c:showLegendKey val="0"/>
            <c:showVal val="1"/>
            <c:showCatName val="0"/>
            <c:showSerName val="0"/>
            <c:showPercent val="0"/>
            <c:showBubbleSize val="0"/>
            <c:showLeaderLines val="1"/>
          </c:dLbls>
          <c:cat>
            <c:strRef>
              <c:f>Sheet1!$A$2:$A$6</c:f>
              <c:strCache>
                <c:ptCount val="5"/>
                <c:pt idx="0">
                  <c:v>2007</c:v>
                </c:pt>
                <c:pt idx="1">
                  <c:v>2008</c:v>
                </c:pt>
                <c:pt idx="2">
                  <c:v>2009</c:v>
                </c:pt>
                <c:pt idx="3">
                  <c:v>2010</c:v>
                </c:pt>
                <c:pt idx="4">
                  <c:v>2011</c:v>
                </c:pt>
              </c:strCache>
            </c:strRef>
          </c:cat>
          <c:val>
            <c:numRef>
              <c:f>Sheet1!$C$2:$C$6</c:f>
              <c:numCache>
                <c:formatCode>General</c:formatCode>
                <c:ptCount val="5"/>
                <c:pt idx="0">
                  <c:v>29.8</c:v>
                </c:pt>
                <c:pt idx="1">
                  <c:v>28.0</c:v>
                </c:pt>
                <c:pt idx="2">
                  <c:v>20.8</c:v>
                </c:pt>
                <c:pt idx="3">
                  <c:v>21.7</c:v>
                </c:pt>
                <c:pt idx="4">
                  <c:v>21.5</c:v>
                </c:pt>
              </c:numCache>
            </c:numRef>
          </c:val>
          <c:smooth val="0"/>
        </c:ser>
        <c:dLbls>
          <c:numFmt formatCode="0.0" sourceLinked="0"/>
          <c:txPr>
            <a:bodyPr/>
            <a:lstStyle/>
            <a:p>
              <a:pPr>
                <a:defRPr sz="1300">
                  <a:solidFill>
                    <a:srgbClr val="2D2A3A"/>
                  </a:solidFill>
                </a:defRPr>
              </a:pPr>
            </a:p>
          </c:txPr>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spPr>
          <a:ln>
            <a:solidFill>
              <a:srgbClr val="CFC6E6"/>
            </a:solidFill>
          </a:ln>
        </c:spPr>
        <c:txPr>
          <a:bodyPr/>
          <a:lstStyle/>
          <a:p>
            <a:pPr>
              <a:defRPr sz="1300"/>
            </a:pPr>
          </a:p>
        </c:txPr>
        <c:crossAx val="2140495176"/>
        <c:crosses val="autoZero"/>
        <c:auto val="1"/>
        <c:lblAlgn val="ctr"/>
        <c:lblOffset val="100"/>
        <c:noMultiLvlLbl val="0"/>
      </c:catAx>
      <c:valAx>
        <c:axId val="2140495176"/>
        <c:scaling/>
        <c:delete/>
        <c:axPos val="l"/>
        <c:majorTickMark val="out"/>
        <c:minorTickMark val="none"/>
        <c:tickLblPos val="nextTo"/>
        <c:crossAx val="2118791784"/>
        <c:crosses val="autoZero"/>
      </c:valAx>
    </c:plotArea>
    <c:legend>
      <c:legendPos val="t"/>
      <c:layout/>
      <c:overlay val="0"/>
      <c:txPr>
        <a:bodyPr/>
        <a:lstStyle/>
        <a:p>
          <a:pPr>
            <a:defRPr sz="1200"/>
          </a:pPr>
        </a:p>
      </c:txPr>
    </c:legend>
    <c:plotVisOnly val="1"/>
    <c:dispBlanksAs val="gap"/>
    <c:showDLblsOverMax val="0"/>
  </c:chart>
  <c:txPr>
    <a:bodyPr/>
    <a:lstStyle/>
    <a:p>
      <a:pPr>
        <a:defRPr sz="1300">
          <a:solidFill>
            <a:srgbClr val="2D2A3A"/>
          </a:solidFill>
          <a:latin typeface="Segoe U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Below last year</c:v>
                </c:pt>
              </c:strCache>
            </c:strRef>
          </c:tx>
          <c:spPr>
            <a:solidFill>
              <a:srgbClr val="EC5A96"/>
            </a:solidFill>
          </c:spPr>
          <c:invertIfNegative val="0"/>
          <c:cat>
            <c:strRef>
              <c:f>Sheet1!$A$2:$A$25</c:f>
              <c:strCache>
                <c:ptCount val="24"/>
                <c:pt idx="0">
                  <c:v>Jan 08</c:v>
                </c:pt>
                <c:pt idx="1">
                  <c:v>  </c:v>
                </c:pt>
                <c:pt idx="2">
                  <c:v>   </c:v>
                </c:pt>
                <c:pt idx="3">
                  <c:v>Apr 08</c:v>
                </c:pt>
                <c:pt idx="4">
                  <c:v>     </c:v>
                </c:pt>
                <c:pt idx="5">
                  <c:v>      </c:v>
                </c:pt>
                <c:pt idx="6">
                  <c:v>Jul 08</c:v>
                </c:pt>
                <c:pt idx="7">
                  <c:v>        </c:v>
                </c:pt>
                <c:pt idx="8">
                  <c:v>         </c:v>
                </c:pt>
                <c:pt idx="9">
                  <c:v>Oct 08</c:v>
                </c:pt>
                <c:pt idx="10">
                  <c:v>           </c:v>
                </c:pt>
                <c:pt idx="11">
                  <c:v>            </c:v>
                </c:pt>
                <c:pt idx="12">
                  <c:v>Jan 09</c:v>
                </c:pt>
                <c:pt idx="13">
                  <c:v>              </c:v>
                </c:pt>
                <c:pt idx="14">
                  <c:v>               </c:v>
                </c:pt>
                <c:pt idx="15">
                  <c:v>Apr 09</c:v>
                </c:pt>
                <c:pt idx="16">
                  <c:v>                 </c:v>
                </c:pt>
                <c:pt idx="17">
                  <c:v>                  </c:v>
                </c:pt>
                <c:pt idx="18">
                  <c:v>Jul 09</c:v>
                </c:pt>
                <c:pt idx="19">
                  <c:v>                    </c:v>
                </c:pt>
                <c:pt idx="20">
                  <c:v>                     </c:v>
                </c:pt>
                <c:pt idx="21">
                  <c:v>Oct 09</c:v>
                </c:pt>
                <c:pt idx="22">
                  <c:v>                       </c:v>
                </c:pt>
                <c:pt idx="23">
                  <c:v>                        </c:v>
                </c:pt>
              </c:strCache>
            </c:strRef>
          </c:cat>
          <c:val>
            <c:numRef>
              <c:f>Sheet1!$B$2:$B$25</c:f>
              <c:numCache>
                <c:formatCode>General</c:formatCode>
                <c:ptCount val="24"/>
                <c:pt idx="0">
                  <c:v>-1.7</c:v>
                </c:pt>
                <c:pt idx="3">
                  <c:v>-1.4</c:v>
                </c:pt>
                <c:pt idx="4">
                  <c:v>-2.9</c:v>
                </c:pt>
                <c:pt idx="6">
                  <c:v>-2.8</c:v>
                </c:pt>
                <c:pt idx="8">
                  <c:v>-11.6</c:v>
                </c:pt>
                <c:pt idx="9">
                  <c:v>-12.9</c:v>
                </c:pt>
                <c:pt idx="10">
                  <c:v>-20.2</c:v>
                </c:pt>
                <c:pt idx="11">
                  <c:v>-16.4</c:v>
                </c:pt>
                <c:pt idx="12">
                  <c:v>-24.2</c:v>
                </c:pt>
                <c:pt idx="13">
                  <c:v>-17.2</c:v>
                </c:pt>
                <c:pt idx="14">
                  <c:v>-11.5</c:v>
                </c:pt>
                <c:pt idx="15">
                  <c:v>-12.4</c:v>
                </c:pt>
                <c:pt idx="16">
                  <c:v>-12.2</c:v>
                </c:pt>
                <c:pt idx="17">
                  <c:v>-12.9</c:v>
                </c:pt>
                <c:pt idx="18">
                  <c:v>-10.8</c:v>
                </c:pt>
                <c:pt idx="19">
                  <c:v>-15.5</c:v>
                </c:pt>
                <c:pt idx="21">
                  <c:v>-0.7</c:v>
                </c:pt>
              </c:numCache>
            </c:numRef>
          </c:val>
        </c:ser>
        <c:ser>
          <c:idx val="1"/>
          <c:order val="1"/>
          <c:tx>
            <c:strRef>
              <c:f>Sheet1!$C$1</c:f>
              <c:strCache>
                <c:ptCount val="1"/>
                <c:pt idx="0">
                  <c:v>Above last year</c:v>
                </c:pt>
              </c:strCache>
            </c:strRef>
          </c:tx>
          <c:spPr>
            <a:solidFill>
              <a:srgbClr val="7031C5"/>
            </a:solidFill>
          </c:spPr>
          <c:invertIfNegative val="0"/>
          <c:cat>
            <c:strRef>
              <c:f>Sheet1!$A$2:$A$25</c:f>
              <c:strCache>
                <c:ptCount val="24"/>
                <c:pt idx="0">
                  <c:v>Jan 08</c:v>
                </c:pt>
                <c:pt idx="1">
                  <c:v>  </c:v>
                </c:pt>
                <c:pt idx="2">
                  <c:v>   </c:v>
                </c:pt>
                <c:pt idx="3">
                  <c:v>Apr 08</c:v>
                </c:pt>
                <c:pt idx="4">
                  <c:v>     </c:v>
                </c:pt>
                <c:pt idx="5">
                  <c:v>      </c:v>
                </c:pt>
                <c:pt idx="6">
                  <c:v>Jul 08</c:v>
                </c:pt>
                <c:pt idx="7">
                  <c:v>        </c:v>
                </c:pt>
                <c:pt idx="8">
                  <c:v>         </c:v>
                </c:pt>
                <c:pt idx="9">
                  <c:v>Oct 08</c:v>
                </c:pt>
                <c:pt idx="10">
                  <c:v>           </c:v>
                </c:pt>
                <c:pt idx="11">
                  <c:v>            </c:v>
                </c:pt>
                <c:pt idx="12">
                  <c:v>Jan 09</c:v>
                </c:pt>
                <c:pt idx="13">
                  <c:v>              </c:v>
                </c:pt>
                <c:pt idx="14">
                  <c:v>               </c:v>
                </c:pt>
                <c:pt idx="15">
                  <c:v>Apr 09</c:v>
                </c:pt>
                <c:pt idx="16">
                  <c:v>                 </c:v>
                </c:pt>
                <c:pt idx="17">
                  <c:v>                  </c:v>
                </c:pt>
                <c:pt idx="18">
                  <c:v>Jul 09</c:v>
                </c:pt>
                <c:pt idx="19">
                  <c:v>                    </c:v>
                </c:pt>
                <c:pt idx="20">
                  <c:v>                     </c:v>
                </c:pt>
                <c:pt idx="21">
                  <c:v>Oct 09</c:v>
                </c:pt>
                <c:pt idx="22">
                  <c:v>                       </c:v>
                </c:pt>
                <c:pt idx="23">
                  <c:v>                        </c:v>
                </c:pt>
              </c:strCache>
            </c:strRef>
          </c:cat>
          <c:val>
            <c:numRef>
              <c:f>Sheet1!$C$2:$C$25</c:f>
              <c:numCache>
                <c:formatCode>General</c:formatCode>
                <c:ptCount val="24"/>
                <c:pt idx="1">
                  <c:v>0.6</c:v>
                </c:pt>
                <c:pt idx="2">
                  <c:v>6.3</c:v>
                </c:pt>
                <c:pt idx="5">
                  <c:v>5.5</c:v>
                </c:pt>
                <c:pt idx="7">
                  <c:v>2.4</c:v>
                </c:pt>
                <c:pt idx="20">
                  <c:v>3.3</c:v>
                </c:pt>
                <c:pt idx="22">
                  <c:v>0.4</c:v>
                </c:pt>
                <c:pt idx="23">
                  <c:v>3.0</c:v>
                </c:pt>
              </c:numCache>
            </c:numRef>
          </c:val>
        </c:ser>
        <c:gapWidth val="30"/>
        <c:overlap val="100"/>
        <c:axId val="-2068027336"/>
        <c:axId val="-2113994440"/>
      </c:barChart>
      <c:catAx>
        <c:axId val="-2068027336"/>
        <c:scaling>
          <c:orientation val="minMax"/>
        </c:scaling>
        <c:delete val="0"/>
        <c:axPos val="b"/>
        <c:majorTickMark val="out"/>
        <c:minorTickMark val="none"/>
        <c:tickLblPos val="low"/>
        <c:spPr>
          <a:ln>
            <a:solidFill>
              <a:srgbClr val="CFC6E6"/>
            </a:solidFill>
          </a:ln>
        </c:spPr>
        <c:txPr>
          <a:bodyPr/>
          <a:lstStyle/>
          <a:p>
            <a:pPr>
              <a:defRPr sz="1100"/>
            </a:pPr>
          </a:p>
        </c:txPr>
        <c:crossAx val="-2113994440"/>
        <c:crosses val="autoZero"/>
        <c:auto val="1"/>
        <c:lblAlgn val="ctr"/>
        <c:lblOffset val="100"/>
        <c:noMultiLvlLbl val="0"/>
      </c:catAx>
      <c:valAx>
        <c:axId val="-2113994440"/>
        <c:scaling/>
        <c:delete val="0"/>
        <c:axPos val="l"/>
        <c:majorGridlines>
          <c:spPr>
            <a:ln>
              <a:solidFill>
                <a:srgbClr val="E4DDF2"/>
              </a:solidFill>
            </a:ln>
          </c:spPr>
        </c:majorGridlines>
        <c:majorTickMark val="out"/>
        <c:minorTickMark val="none"/>
        <c:tickLblPos val="nextTo"/>
        <c:txPr>
          <a:bodyPr/>
          <a:lstStyle/>
          <a:p>
            <a:pPr>
              <a:defRPr sz="1100"/>
            </a:pPr>
          </a:p>
        </c:txPr>
        <c:crossAx val="-2068027336"/>
        <c:crosses val="autoZero"/>
      </c:valAx>
    </c:plotArea>
    <c:legend>
      <c:legendPos val="t"/>
      <c:overlay val="0"/>
      <c:txPr>
        <a:bodyPr/>
        <a:lstStyle/>
        <a:p>
          <a:pPr>
            <a:defRPr sz="1200"/>
          </a:pPr>
        </a:p>
      </c:txPr>
    </c:legend>
    <c:dispBlanksAs val="gap"/>
  </c:chart>
  <c:txPr>
    <a:bodyPr/>
    <a:lstStyle/>
    <a:p>
      <a:pPr>
        <a:defRPr sz="1100">
          <a:solidFill>
            <a:srgbClr val="2D2A3A"/>
          </a:solidFill>
          <a:latin typeface="Segoe U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Touring</c:v>
                </c:pt>
              </c:strCache>
            </c:strRef>
          </c:tx>
          <c:spPr>
            <a:solidFill>
              <a:srgbClr val="7031C5"/>
            </a:solidFill>
          </c:spPr>
          <c:invertIfNegative val="0"/>
          <c:cat>
            <c:strRef>
              <c:f>Sheet1!$A$2:$A$6</c:f>
              <c:strCache>
                <c:ptCount val="5"/>
                <c:pt idx="0">
                  <c:v>2007</c:v>
                </c:pt>
                <c:pt idx="1">
                  <c:v>2008</c:v>
                </c:pt>
                <c:pt idx="2">
                  <c:v>2009</c:v>
                </c:pt>
                <c:pt idx="3">
                  <c:v>2010</c:v>
                </c:pt>
                <c:pt idx="4">
                  <c:v>2011</c:v>
                </c:pt>
              </c:strCache>
            </c:strRef>
          </c:cat>
          <c:val>
            <c:numRef>
              <c:f>Sheet1!$B$2:$B$6</c:f>
              <c:numCache>
                <c:formatCode>General</c:formatCode>
                <c:ptCount val="5"/>
                <c:pt idx="0">
                  <c:v>24.0</c:v>
                </c:pt>
                <c:pt idx="1">
                  <c:v>23.9</c:v>
                </c:pt>
                <c:pt idx="2">
                  <c:v>20.6</c:v>
                </c:pt>
                <c:pt idx="3">
                  <c:v>20.9</c:v>
                </c:pt>
                <c:pt idx="4">
                  <c:v>21.1</c:v>
                </c:pt>
              </c:numCache>
            </c:numRef>
          </c:val>
        </c:ser>
        <c:ser>
          <c:idx val="1"/>
          <c:order val="1"/>
          <c:tx>
            <c:strRef>
              <c:f>Sheet1!$C$1</c:f>
              <c:strCache>
                <c:ptCount val="1"/>
                <c:pt idx="0">
                  <c:v>Road</c:v>
                </c:pt>
              </c:strCache>
            </c:strRef>
          </c:tx>
          <c:spPr>
            <a:solidFill>
              <a:srgbClr val="EC5A96"/>
            </a:solidFill>
          </c:spPr>
          <c:invertIfNegative val="0"/>
          <c:cat>
            <c:strRef>
              <c:f>Sheet1!$A$2:$A$6</c:f>
              <c:strCache>
                <c:ptCount val="5"/>
                <c:pt idx="0">
                  <c:v>2007</c:v>
                </c:pt>
                <c:pt idx="1">
                  <c:v>2008</c:v>
                </c:pt>
                <c:pt idx="2">
                  <c:v>2009</c:v>
                </c:pt>
                <c:pt idx="3">
                  <c:v>2010</c:v>
                </c:pt>
                <c:pt idx="4">
                  <c:v>2011</c:v>
                </c:pt>
              </c:strCache>
            </c:strRef>
          </c:cat>
          <c:val>
            <c:numRef>
              <c:f>Sheet1!$C$2:$C$6</c:f>
              <c:numCache>
                <c:formatCode>General</c:formatCode>
                <c:ptCount val="5"/>
                <c:pt idx="0">
                  <c:v>18.4</c:v>
                </c:pt>
                <c:pt idx="1">
                  <c:v>17.5</c:v>
                </c:pt>
                <c:pt idx="2">
                  <c:v>15.6</c:v>
                </c:pt>
                <c:pt idx="3">
                  <c:v>15.7</c:v>
                </c:pt>
                <c:pt idx="4">
                  <c:v>16.6</c:v>
                </c:pt>
              </c:numCache>
            </c:numRef>
          </c:val>
        </c:ser>
        <c:ser>
          <c:idx val="2"/>
          <c:order val="2"/>
          <c:tx>
            <c:strRef>
              <c:f>Sheet1!$D$1</c:f>
              <c:strCache>
                <c:ptCount val="1"/>
                <c:pt idx="0">
                  <c:v>Off-road</c:v>
                </c:pt>
              </c:strCache>
            </c:strRef>
          </c:tx>
          <c:spPr>
            <a:solidFill>
              <a:srgbClr val="A78BE0"/>
            </a:solidFill>
          </c:spPr>
          <c:invertIfNegative val="0"/>
          <c:cat>
            <c:strRef>
              <c:f>Sheet1!$A$2:$A$6</c:f>
              <c:strCache>
                <c:ptCount val="5"/>
                <c:pt idx="0">
                  <c:v>2007</c:v>
                </c:pt>
                <c:pt idx="1">
                  <c:v>2008</c:v>
                </c:pt>
                <c:pt idx="2">
                  <c:v>2009</c:v>
                </c:pt>
                <c:pt idx="3">
                  <c:v>2010</c:v>
                </c:pt>
                <c:pt idx="4">
                  <c:v>2011</c:v>
                </c:pt>
              </c:strCache>
            </c:strRef>
          </c:cat>
          <c:val>
            <c:numRef>
              <c:f>Sheet1!$D$2:$D$6</c:f>
              <c:numCache>
                <c:formatCode>General</c:formatCode>
                <c:ptCount val="5"/>
                <c:pt idx="0">
                  <c:v>17.7</c:v>
                </c:pt>
                <c:pt idx="1">
                  <c:v>17.4</c:v>
                </c:pt>
                <c:pt idx="2">
                  <c:v>15.8</c:v>
                </c:pt>
                <c:pt idx="3">
                  <c:v>16.6</c:v>
                </c:pt>
                <c:pt idx="4">
                  <c:v>16.4</c:v>
                </c:pt>
              </c:numCache>
            </c:numRef>
          </c:val>
        </c:ser>
        <c:dLbls>
          <c:numFmt formatCode="0" sourceLinked="0"/>
          <c:txPr>
            <a:bodyPr/>
            <a:lstStyle/>
            <a:p>
              <a:pPr>
                <a:defRPr sz="1200">
                  <a:solidFill>
                    <a:srgbClr val="2D2A3A"/>
                  </a:solidFill>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CFC6E6"/>
            </a:solidFill>
          </a:ln>
        </c:spPr>
        <c:txPr>
          <a:bodyPr/>
          <a:lstStyle/>
          <a:p>
            <a:pPr>
              <a:defRPr sz="12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legend>
      <c:legendPos val="t"/>
      <c:overlay val="0"/>
      <c:txPr>
        <a:bodyPr/>
        <a:lstStyle/>
        <a:p>
          <a:pPr>
            <a:defRPr sz="1200"/>
          </a:pPr>
        </a:p>
      </c:txPr>
    </c:legend>
    <c:dispBlanksAs val="gap"/>
  </c:chart>
  <c:txPr>
    <a:bodyPr/>
    <a:lstStyle/>
    <a:p>
      <a:pPr>
        <a:defRPr sz="1200">
          <a:solidFill>
            <a:srgbClr val="2D2A3A"/>
          </a:solidFill>
          <a:latin typeface="Segoe U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Units</c:v>
                </c:pt>
              </c:strCache>
            </c:strRef>
          </c:tx>
          <c:spPr>
            <a:solidFill>
              <a:srgbClr val="EC5A96"/>
            </a:solidFill>
          </c:spPr>
          <c:invertIfNegative val="0"/>
          <c:cat>
            <c:strRef>
              <c:f>Sheet1!$A$2:$A$6</c:f>
              <c:strCache>
                <c:ptCount val="5"/>
                <c:pt idx="0">
                  <c:v>2007</c:v>
                </c:pt>
                <c:pt idx="1">
                  <c:v>2008</c:v>
                </c:pt>
                <c:pt idx="2">
                  <c:v>2009</c:v>
                </c:pt>
                <c:pt idx="3">
                  <c:v>2010</c:v>
                </c:pt>
                <c:pt idx="4">
                  <c:v>2011</c:v>
                </c:pt>
              </c:strCache>
            </c:strRef>
          </c:cat>
          <c:val>
            <c:numRef>
              <c:f>Sheet1!$B$2:$B$6</c:f>
              <c:numCache>
                <c:formatCode>General</c:formatCode>
                <c:ptCount val="5"/>
                <c:pt idx="0">
                  <c:v>21</c:v>
                </c:pt>
                <c:pt idx="1">
                  <c:v>17</c:v>
                </c:pt>
                <c:pt idx="2">
                  <c:v>10</c:v>
                </c:pt>
                <c:pt idx="3">
                  <c:v>10</c:v>
                </c:pt>
                <c:pt idx="4">
                  <c:v>14</c:v>
                </c:pt>
              </c:numCache>
            </c:numRef>
          </c:val>
        </c:ser>
        <c:dLbls>
          <c:numFmt formatCode="0" sourceLinked="0"/>
          <c:txPr>
            <a:bodyPr/>
            <a:lstStyle/>
            <a:p>
              <a:pPr>
                <a:defRPr sz="1400">
                  <a:solidFill>
                    <a:srgbClr val="2D2A3A"/>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CFC6E6"/>
            </a:solidFill>
          </a:ln>
        </c:spPr>
        <c:txPr>
          <a:bodyPr/>
          <a:lstStyle/>
          <a:p>
            <a:pPr>
              <a:defRPr sz="14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400">
          <a:solidFill>
            <a:srgbClr val="2D2A3A"/>
          </a:solidFill>
          <a:latin typeface="Segoe U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Share</c:v>
                </c:pt>
              </c:strCache>
            </c:strRef>
          </c:tx>
          <c:spPr>
            <a:solidFill>
              <a:srgbClr val="7031C5"/>
            </a:solidFill>
          </c:spPr>
          <c:invertIfNegative val="0"/>
          <c:dPt>
            <c:idx val="0"/>
            <c:spPr>
              <a:solidFill>
                <a:srgbClr val="EC5A96"/>
              </a:solidFill>
            </c:spPr>
          </c:dPt>
          <c:dPt>
            <c:idx val="1"/>
            <c:spPr>
              <a:solidFill>
                <a:srgbClr val="EC5A96"/>
              </a:solidFill>
            </c:spPr>
          </c:dPt>
          <c:dPt>
            <c:idx val="2"/>
            <c:spPr>
              <a:solidFill>
                <a:srgbClr val="EC5A96"/>
              </a:solidFill>
            </c:spPr>
          </c:dPt>
          <c:dPt>
            <c:idx val="3"/>
            <c:spPr>
              <a:solidFill>
                <a:srgbClr val="7031C5"/>
              </a:solidFill>
            </c:spPr>
          </c:dPt>
          <c:dPt>
            <c:idx val="4"/>
            <c:spPr>
              <a:solidFill>
                <a:srgbClr val="7031C5"/>
              </a:solidFill>
            </c:spPr>
          </c:dPt>
          <c:dPt>
            <c:idx val="5"/>
            <c:spPr>
              <a:solidFill>
                <a:srgbClr val="7031C5"/>
              </a:solidFill>
            </c:spPr>
          </c:dPt>
          <c:dPt>
            <c:idx val="6"/>
            <c:spPr>
              <a:solidFill>
                <a:srgbClr val="7031C5"/>
              </a:solidFill>
            </c:spPr>
          </c:dPt>
          <c:dPt>
            <c:idx val="7"/>
            <c:spPr>
              <a:solidFill>
                <a:srgbClr val="7031C5"/>
              </a:solidFill>
            </c:spPr>
          </c:dPt>
          <c:dPt>
            <c:idx val="8"/>
            <c:spPr>
              <a:solidFill>
                <a:srgbClr val="7031C5"/>
              </a:solidFill>
            </c:spPr>
          </c:dPt>
          <c:dPt>
            <c:idx val="9"/>
            <c:spPr>
              <a:solidFill>
                <a:srgbClr val="7031C5"/>
              </a:solidFill>
            </c:spPr>
          </c:dPt>
          <c:cat>
            <c:strRef>
              <c:f>Sheet1!$A$2:$A$11</c:f>
              <c:strCache>
                <c:ptCount val="10"/>
                <c:pt idx="0">
                  <c:v>München</c:v>
                </c:pt>
                <c:pt idx="1">
                  <c:v>Denver</c:v>
                </c:pt>
                <c:pt idx="2">
                  <c:v>Irvine</c:v>
                </c:pt>
                <c:pt idx="3">
                  <c:v>Heidelberg</c:v>
                </c:pt>
                <c:pt idx="4">
                  <c:v>Grand Rapids</c:v>
                </c:pt>
                <c:pt idx="5">
                  <c:v>Washington DC</c:v>
                </c:pt>
                <c:pt idx="6">
                  <c:v>Philadelphia</c:v>
                </c:pt>
                <c:pt idx="7">
                  <c:v>Leipzig</c:v>
                </c:pt>
                <c:pt idx="8">
                  <c:v>Seattle</c:v>
                </c:pt>
                <c:pt idx="9">
                  <c:v>Atlanta</c:v>
                </c:pt>
              </c:strCache>
            </c:strRef>
          </c:cat>
          <c:val>
            <c:numRef>
              <c:f>Sheet1!$B$2:$B$11</c:f>
              <c:numCache>
                <c:formatCode>General</c:formatCode>
                <c:ptCount val="10"/>
                <c:pt idx="0">
                  <c:v>48.7</c:v>
                </c:pt>
                <c:pt idx="1">
                  <c:v>48.0</c:v>
                </c:pt>
                <c:pt idx="2">
                  <c:v>41.1</c:v>
                </c:pt>
                <c:pt idx="3">
                  <c:v>39.0</c:v>
                </c:pt>
                <c:pt idx="4">
                  <c:v>38.2</c:v>
                </c:pt>
                <c:pt idx="5">
                  <c:v>38.0</c:v>
                </c:pt>
                <c:pt idx="6">
                  <c:v>37.6</c:v>
                </c:pt>
                <c:pt idx="7">
                  <c:v>37.3</c:v>
                </c:pt>
                <c:pt idx="8">
                  <c:v>37.0</c:v>
                </c:pt>
                <c:pt idx="9">
                  <c:v>36.4</c:v>
                </c:pt>
              </c:numCache>
            </c:numRef>
          </c:val>
        </c:ser>
        <c:dLbls>
          <c:numFmt formatCode="0.0" sourceLinked="0"/>
          <c:txPr>
            <a:bodyPr/>
            <a:lstStyle/>
            <a:p>
              <a:pPr>
                <a:defRPr sz="1200">
                  <a:solidFill>
                    <a:srgbClr val="2D2A3A"/>
                  </a:solidFill>
                </a:defRPr>
              </a:pPr>
            </a:p>
          </c:txPr>
          <c:dLblPos val="outEnd"/>
          <c:showLegendKey val="0"/>
          <c:showVal val="1"/>
          <c:showCatName val="0"/>
          <c:showSerName val="0"/>
          <c:showPercent val="0"/>
          <c:showBubbleSize val="0"/>
          <c:showLeaderLines val="1"/>
        </c:dLbls>
        <c:gapWidth val="35"/>
        <c:axId val="-2068027336"/>
        <c:axId val="-2113994440"/>
      </c:barChart>
      <c:catAx>
        <c:axId val="-2068027336"/>
        <c:scaling>
          <c:orientation val="maxMin"/>
        </c:scaling>
        <c:delete val="0"/>
        <c:axPos val="l"/>
        <c:majorTickMark val="out"/>
        <c:minorTickMark val="none"/>
        <c:tickLblPos val="nextTo"/>
        <c:spPr>
          <a:ln>
            <a:solidFill>
              <a:srgbClr val="CFC6E6"/>
            </a:solid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200">
          <a:solidFill>
            <a:srgbClr val="2D2A3A"/>
          </a:solidFill>
          <a:latin typeface="Segoe U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Share</c:v>
                </c:pt>
              </c:strCache>
            </c:strRef>
          </c:tx>
          <c:spPr>
            <a:solidFill>
              <a:srgbClr val="7031C5"/>
            </a:solidFill>
          </c:spPr>
          <c:invertIfNegative val="0"/>
          <c:dPt>
            <c:idx val="0"/>
            <c:spPr>
              <a:solidFill>
                <a:srgbClr val="7031C5"/>
              </a:solidFill>
            </c:spPr>
          </c:dPt>
          <c:dPt>
            <c:idx val="1"/>
            <c:spPr>
              <a:solidFill>
                <a:srgbClr val="7031C5"/>
              </a:solidFill>
            </c:spPr>
          </c:dPt>
          <c:dPt>
            <c:idx val="2"/>
            <c:spPr>
              <a:solidFill>
                <a:srgbClr val="7031C5"/>
              </a:solidFill>
            </c:spPr>
          </c:dPt>
          <c:dPt>
            <c:idx val="3"/>
            <c:spPr>
              <a:solidFill>
                <a:srgbClr val="EC5A96"/>
              </a:solidFill>
            </c:spPr>
          </c:dPt>
          <c:dPt>
            <c:idx val="4"/>
            <c:spPr>
              <a:solidFill>
                <a:srgbClr val="EC5A96"/>
              </a:solidFill>
            </c:spPr>
          </c:dPt>
          <c:dPt>
            <c:idx val="5"/>
            <c:spPr>
              <a:solidFill>
                <a:srgbClr val="EC5A96"/>
              </a:solidFill>
            </c:spPr>
          </c:dPt>
          <c:dPt>
            <c:idx val="6"/>
            <c:spPr>
              <a:solidFill>
                <a:srgbClr val="7031C5"/>
              </a:solidFill>
            </c:spPr>
          </c:dPt>
          <c:dPt>
            <c:idx val="7"/>
            <c:spPr>
              <a:solidFill>
                <a:srgbClr val="7031C5"/>
              </a:solidFill>
            </c:spPr>
          </c:dPt>
          <c:dPt>
            <c:idx val="8"/>
            <c:spPr>
              <a:solidFill>
                <a:srgbClr val="7031C5"/>
              </a:solidFill>
            </c:spPr>
          </c:dPt>
          <c:dPt>
            <c:idx val="9"/>
            <c:spPr>
              <a:solidFill>
                <a:srgbClr val="7031C5"/>
              </a:solidFill>
            </c:spPr>
          </c:dPt>
          <c:dPt>
            <c:idx val="10"/>
            <c:spPr>
              <a:solidFill>
                <a:srgbClr val="7031C5"/>
              </a:solidFill>
            </c:spPr>
          </c:dPt>
          <c:dPt>
            <c:idx val="11"/>
            <c:spPr>
              <a:solidFill>
                <a:srgbClr val="7031C5"/>
              </a:solidFill>
            </c:spPr>
          </c:dPt>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1.9</c:v>
                </c:pt>
                <c:pt idx="1">
                  <c:v>3.3</c:v>
                </c:pt>
                <c:pt idx="2">
                  <c:v>4.9</c:v>
                </c:pt>
                <c:pt idx="3">
                  <c:v>13.7</c:v>
                </c:pt>
                <c:pt idx="4">
                  <c:v>18.0</c:v>
                </c:pt>
                <c:pt idx="5">
                  <c:v>22.4</c:v>
                </c:pt>
                <c:pt idx="6">
                  <c:v>10.8</c:v>
                </c:pt>
                <c:pt idx="7">
                  <c:v>9.3</c:v>
                </c:pt>
                <c:pt idx="8">
                  <c:v>7.4</c:v>
                </c:pt>
                <c:pt idx="9">
                  <c:v>4.6</c:v>
                </c:pt>
                <c:pt idx="10">
                  <c:v>1.9</c:v>
                </c:pt>
                <c:pt idx="11">
                  <c:v>1.8</c:v>
                </c:pt>
              </c:numCache>
            </c:numRef>
          </c:val>
        </c:ser>
        <c:dLbls>
          <c:numFmt formatCode="0" sourceLinked="0"/>
          <c:txPr>
            <a:bodyPr/>
            <a:lstStyle/>
            <a:p>
              <a:pPr>
                <a:defRPr sz="1200">
                  <a:solidFill>
                    <a:srgbClr val="2D2A3A"/>
                  </a:solidFill>
                </a:defRPr>
              </a:pPr>
            </a:p>
          </c:txPr>
          <c:dLblPos val="outEnd"/>
          <c:showLegendKey val="0"/>
          <c:showVal val="1"/>
          <c:showCatName val="0"/>
          <c:showSerName val="0"/>
          <c:showPercent val="0"/>
          <c:showBubbleSize val="0"/>
          <c:showLeaderLines val="1"/>
        </c:dLbls>
        <c:gapWidth val="35"/>
        <c:axId val="-2068027336"/>
        <c:axId val="-2113994440"/>
      </c:barChart>
      <c:catAx>
        <c:axId val="-2068027336"/>
        <c:scaling>
          <c:orientation val="minMax"/>
        </c:scaling>
        <c:delete val="0"/>
        <c:axPos val="b"/>
        <c:majorTickMark val="out"/>
        <c:minorTickMark val="none"/>
        <c:tickLblPos val="nextTo"/>
        <c:spPr>
          <a:ln>
            <a:solidFill>
              <a:srgbClr val="CFC6E6"/>
            </a:solidFill>
          </a:ln>
        </c:spPr>
        <c:txPr>
          <a:bodyPr/>
          <a:lstStyle/>
          <a:p>
            <a:pPr>
              <a:defRPr sz="12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200">
          <a:solidFill>
            <a:srgbClr val="2D2A3A"/>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having me. I'm Brandy Sango. I'm going to take you through my answers to the Palmpay assessment: five years of sales in two countries, what happened, and what I would do about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is one sales sheet covering January 2007 to December 2011, from the United States and Germany.</a:t>
            </a:r>
          </a:p>
          <a:p/>
          <a:p>
            <a:r>
              <a:t>The first thing I checked was currency. The sales are not recorded in one currency. German sales are recorded in euros, and the euro totals come out lower than the dollar totals, while the US figures are the same in both. So every number I show is in US dollars, which is the only way to compare the two countries fairly.</a:t>
            </a:r>
          </a:p>
          <a:p/>
          <a:p>
            <a:r>
              <a:t>Where a question tells me to exclude Silicon Valley Bikes, I did, and I'll say so each time. Everywhere else it's included.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 the five years Palmpay sold about 169,000 items and earned $285 million in revenue. Gross profit was $149 million, a margin of 52.3 percent.</a:t>
            </a:r>
          </a:p>
          <a:p/>
          <a:p>
            <a:r>
              <a:t>That's a healthy business on the surface. The rest of this talk is about what sits underneath those totals.</a:t>
            </a:r>
          </a:p>
          <a:p/>
          <a:p>
            <a:r>
              <a:t>This is the Executive Overview page of the report I built in Power BI. The four cards at the top show the headline numbers, and the first two carry a twelve-month trend line. The chart below plots every city's revenue against its margin, and the Play button steps through the years so you can watch the cities move. The report has twelve pages in all, and I'll point to the ones that answer each question.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countries moved in opposite directions.</a:t>
            </a:r>
          </a:p>
          <a:p/>
          <a:p>
            <a:r>
              <a:t>Germany grew every year, from $31.0 million in 2007 to $35.1 million in 2011.</a:t>
            </a:r>
          </a:p>
          <a:p/>
          <a:p>
            <a:r>
              <a:t>The United States started at $29.8 million, slipped to $28.0 million in 2008, then fell to $20.8 million in 2009. That is a drop of about 26 percent in a single year. It has stayed near $21.5 million ever since, about $8 million a year below where it began. Units tell the same story: US units fell from 19,383 to 13,115, about a third fewer.</a:t>
            </a:r>
          </a:p>
          <a:p/>
          <a:p>
            <a:r>
              <a:t>What can I say about the reasons? Two things. The timing: the fall begins in 2008 and 2009, which is when the financial crisis hit. And discounting: the US cut its average discount from $200 to $171 and volume did not come back, while Germany raised its discount from $123 to $146 and kept growing.</a:t>
            </a:r>
          </a:p>
          <a:p/>
          <a:p>
            <a:r>
              <a:t>On the page itself, the revenue lines show the gap opening between the two countries, with a dashed trend line for each. There is also a switcher above the chart, so I can flip the same view between revenue, units sold and gross margin without leaving the page.</a:t>
            </a:r>
          </a:p>
          <a:p/>
          <a:p>
            <a:r>
              <a:t>What the data cannot tell me is why. The crisis is the likely explanation, not a proven one, and I don't want to claim more than the numbers support.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this question I removed Silicon Valley Bikes and compared each month with the same month a year earlier.</a:t>
            </a:r>
          </a:p>
          <a:p/>
          <a:p>
            <a:r>
              <a:t>Until August 2008, sales were within about six percent of the year before. Then, in September 2008, the month Lehman Brothers collapsed, sales were 11.6 percent lower. The fall deepened to 20 percent in November and reached 24 percent in January 2009. The first month back above the year before was September 2009.</a:t>
            </a:r>
          </a:p>
          <a:p/>
          <a:p>
            <a:r>
              <a:t>Almost all of that was the United States, down as much as 46 percent in January 2009. Germany's worst month in those two years was minus 9.8 percent.</a:t>
            </a:r>
          </a:p>
          <a:p/>
          <a:p>
            <a:r>
              <a:t>This page puts the two countries side by side on the same scale, so the difference is easy to see. Put one chart on top of the other and the German line looks almost flat. That is the point: the shock was real, but it landed on one market.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Touring bikes provided the most revenue in every year, between $20.6 million and $24.0 million. That is 37 to 40 percent of all revenue. Road bikes and off-road bikes follow closely behind.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flop is the Fixed Gear Bike Plus. It sold the fewest units in every year: 21, 17, 10, 10 and 14. That's 72 units in five years. The next slowest, the City Bike Max, sold between 59 and 96 a year.</a:t>
            </a:r>
          </a:p>
          <a:p/>
          <a:p>
            <a:r>
              <a:t>I counted only products that sold in that year, so the E-Bike, which first appears in 2010, isn't counted as a zero before it launched.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2011, off-road bikes were 7,266 of the 19,393 bicycles sold. That is 37.5 percent. I counted every category except accessories as bicycles.</a:t>
            </a:r>
          </a:p>
          <a:p/>
          <a:p>
            <a:r>
              <a:t>Across cities the average share is 36.9 percent. Three cities stand clearly above it: München at 48.7 percent, Denver at 48.0 and Irvine at 41.1. These are the places where off-road bikes matter most, so they're where off-road stock and promotion should go first.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expectation is that bikes and accessories sell in spring and summer. The data supports it. 54 percent of all revenue arrives in April, May and June, and only 9 percent from November to February. Every product but one peaks in June.</a:t>
            </a:r>
          </a:p>
          <a:p/>
          <a:p>
            <a:r>
              <a:t>The exception is the First Aid Kit. Only about half its revenue falls between March and August, and it peaks in July. It sells close to evenly through the year. That is the product lacking seasonality, and it is a natural one to carry the quiet months.</a:t>
            </a:r>
          </a:p>
          <a:p/>
          <a:p>
            <a:r>
              <a:t>In the report you can pick any product on the left and see its own monthly line against the average. Press Play and it steps through the years. The shape barely changes from year to year, which tells me the pattern is stable and not a one-off.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have five recommendations.</a:t>
            </a:r>
          </a:p>
          <a:p/>
          <a:p>
            <a:r>
              <a:t>One: win back US customers. Find out which customers stopped buying after 2008 and target them with retention and win-back offers. That is the largest gap in the business.</a:t>
            </a:r>
          </a:p>
          <a:p/>
          <a:p>
            <a:r>
              <a:t>Two: rethink US discounts. Test bigger discounts on touring and road bikes, and track what they do to margin before rolling anything out.</a:t>
            </a:r>
          </a:p>
          <a:p/>
          <a:p>
            <a:r>
              <a:t>Three: keep investing in touring, road and off-road bikes. They make up almost all revenue, so stock and marketing should follow them.</a:t>
            </a:r>
          </a:p>
          <a:p/>
          <a:p>
            <a:r>
              <a:t>Four: review the Fixed Gear Bike Plus. It sold 72 units in five years. Either relaunch it with a clear plan or drop it.</a:t>
            </a:r>
          </a:p>
          <a:p/>
          <a:p>
            <a:r>
              <a:t>Five: plan around the season. Build stock before April, and run promotions from November to February, where the First Aid Kit and accessories can carry sales.</a:t>
            </a:r>
          </a:p>
          <a:p/>
          <a:p>
            <a:r>
              <a:t>I put them in this order because the first is the biggest gap and the last is the easiest to start. None of them needs new data to begin.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Palmpay's business is sound but uneven. Germany and the three main bike lines carry it, and the United States shows how exposed the company was to the 2008 crisis. The priorities are to win back US customers, protect the touring, road and off-road lines, and plan stock around the April to June peak.</a:t>
            </a:r>
          </a:p>
          <a:p/>
          <a:p>
            <a:r>
              <a:t>Two limits are worth saying out loud. This is five years of data from two countries, and it ends in 2011, so I would want more recent figures before committing budget. And the data shows what happened, not why customers behaved as they did, so the first step of any win-back plan is to ask them.</a:t>
            </a:r>
          </a:p>
          <a:p/>
          <a:p>
            <a:r>
              <a:t>Thank you. I'm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 Id="rId4" Type="http://schemas.openxmlformats.org/officeDocument/2006/relationships/chart" Target="../charts/char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 Id="rId4" Type="http://schemas.openxmlformats.org/officeDocument/2006/relationships/chart" Target="../charts/char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 Id="rId4" Type="http://schemas.openxmlformats.org/officeDocument/2006/relationships/chart" Target="../charts/char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 Id="rId4" Type="http://schemas.openxmlformats.org/officeDocument/2006/relationships/chart" Target="../charts/char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C1A6E"/>
        </a:solidFill>
        <a:effectLst/>
      </p:bgPr>
    </p:bg>
    <p:spTree>
      <p:nvGrpSpPr>
        <p:cNvPr id="1" name=""/>
        <p:cNvGrpSpPr/>
        <p:nvPr/>
      </p:nvGrpSpPr>
      <p:grpSpPr/>
      <p:sp>
        <p:nvSpPr>
          <p:cNvPr id="2" name="Rectangle 1"/>
          <p:cNvSpPr/>
          <p:nvPr/>
        </p:nvSpPr>
        <p:spPr>
          <a:xfrm>
            <a:off x="0" y="6309360"/>
            <a:ext cx="12191695" cy="548640"/>
          </a:xfrm>
          <a:prstGeom prst="rect">
            <a:avLst/>
          </a:prstGeom>
          <a:solidFill>
            <a:srgbClr val="703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254496"/>
            <a:ext cx="12191695" cy="54864"/>
          </a:xfrm>
          <a:prstGeom prst="rect">
            <a:avLst/>
          </a:prstGeom>
          <a:solidFill>
            <a:srgbClr val="EC5A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almpay logo.png"/>
          <p:cNvPicPr>
            <a:picLocks noChangeAspect="1"/>
          </p:cNvPicPr>
          <p:nvPr/>
        </p:nvPicPr>
        <p:blipFill>
          <a:blip r:embed="rId2"/>
          <a:stretch>
            <a:fillRect/>
          </a:stretch>
        </p:blipFill>
        <p:spPr>
          <a:xfrm>
            <a:off x="914400" y="2103120"/>
            <a:ext cx="2194560" cy="2194560"/>
          </a:xfrm>
          <a:prstGeom prst="rect">
            <a:avLst/>
          </a:prstGeom>
        </p:spPr>
      </p:pic>
      <p:sp>
        <p:nvSpPr>
          <p:cNvPr id="5" name="TextBox 4"/>
          <p:cNvSpPr txBox="1"/>
          <p:nvPr/>
        </p:nvSpPr>
        <p:spPr>
          <a:xfrm>
            <a:off x="3657600" y="2148840"/>
            <a:ext cx="8046720" cy="1097280"/>
          </a:xfrm>
          <a:prstGeom prst="rect">
            <a:avLst/>
          </a:prstGeom>
          <a:noFill/>
        </p:spPr>
        <p:txBody>
          <a:bodyPr wrap="square" anchor="t" lIns="0" rIns="0" tIns="0" bIns="0">
            <a:spAutoFit/>
          </a:bodyPr>
          <a:lstStyle/>
          <a:p>
            <a:pPr algn="l">
              <a:spcAft>
                <a:spcPts val="0"/>
              </a:spcAft>
            </a:pPr>
            <a:r>
              <a:rPr sz="5400" b="1">
                <a:solidFill>
                  <a:srgbClr val="FFFFFF"/>
                </a:solidFill>
                <a:latin typeface="Segoe UI"/>
              </a:rPr>
              <a:t>Palmpay sales analysis</a:t>
            </a:r>
          </a:p>
        </p:txBody>
      </p:sp>
      <p:sp>
        <p:nvSpPr>
          <p:cNvPr id="6" name="TextBox 5"/>
          <p:cNvSpPr txBox="1"/>
          <p:nvPr/>
        </p:nvSpPr>
        <p:spPr>
          <a:xfrm>
            <a:off x="3657600" y="3337560"/>
            <a:ext cx="8046720" cy="640080"/>
          </a:xfrm>
          <a:prstGeom prst="rect">
            <a:avLst/>
          </a:prstGeom>
          <a:noFill/>
        </p:spPr>
        <p:txBody>
          <a:bodyPr wrap="square" anchor="t" lIns="0" rIns="0" tIns="0" bIns="0">
            <a:spAutoFit/>
          </a:bodyPr>
          <a:lstStyle/>
          <a:p>
            <a:pPr algn="l">
              <a:spcAft>
                <a:spcPts val="0"/>
              </a:spcAft>
            </a:pPr>
            <a:r>
              <a:rPr sz="2400" b="0">
                <a:solidFill>
                  <a:srgbClr val="D9CCF2"/>
                </a:solidFill>
                <a:latin typeface="Segoe UI"/>
              </a:rPr>
              <a:t>What happened to sales, and what to do next</a:t>
            </a:r>
          </a:p>
        </p:txBody>
      </p:sp>
      <p:sp>
        <p:nvSpPr>
          <p:cNvPr id="7" name="TextBox 6"/>
          <p:cNvSpPr txBox="1"/>
          <p:nvPr/>
        </p:nvSpPr>
        <p:spPr>
          <a:xfrm>
            <a:off x="3657600" y="4114800"/>
            <a:ext cx="8046720" cy="457200"/>
          </a:xfrm>
          <a:prstGeom prst="rect">
            <a:avLst/>
          </a:prstGeom>
          <a:noFill/>
        </p:spPr>
        <p:txBody>
          <a:bodyPr wrap="square" anchor="t" lIns="0" rIns="0" tIns="0" bIns="0">
            <a:spAutoFit/>
          </a:bodyPr>
          <a:lstStyle/>
          <a:p>
            <a:pPr algn="l">
              <a:spcAft>
                <a:spcPts val="0"/>
              </a:spcAft>
            </a:pPr>
            <a:r>
              <a:rPr sz="1600" b="0">
                <a:solidFill>
                  <a:srgbClr val="B9A7DD"/>
                </a:solidFill>
                <a:latin typeface="Segoe UI"/>
              </a:rPr>
              <a:t>United States and Germany  |  2007 to 2011</a:t>
            </a:r>
          </a:p>
        </p:txBody>
      </p:sp>
      <p:sp>
        <p:nvSpPr>
          <p:cNvPr id="8" name="TextBox 7"/>
          <p:cNvSpPr txBox="1"/>
          <p:nvPr/>
        </p:nvSpPr>
        <p:spPr>
          <a:xfrm>
            <a:off x="914400" y="6400800"/>
            <a:ext cx="7315200" cy="365760"/>
          </a:xfrm>
          <a:prstGeom prst="rect">
            <a:avLst/>
          </a:prstGeom>
          <a:noFill/>
        </p:spPr>
        <p:txBody>
          <a:bodyPr wrap="square" anchor="ctr" lIns="0" rIns="0" tIns="0" bIns="0">
            <a:spAutoFit/>
          </a:bodyPr>
          <a:lstStyle/>
          <a:p>
            <a:pPr algn="l">
              <a:spcAft>
                <a:spcPts val="0"/>
              </a:spcAft>
            </a:pPr>
            <a:r>
              <a:rPr sz="1400" b="1">
                <a:solidFill>
                  <a:srgbClr val="FFFFFF"/>
                </a:solidFill>
                <a:latin typeface="Segoe UI"/>
              </a:rPr>
              <a:t>Brandy Sango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1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3C1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EC5A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almpay logo.png"/>
          <p:cNvPicPr>
            <a:picLocks noChangeAspect="1"/>
          </p:cNvPicPr>
          <p:nvPr/>
        </p:nvPicPr>
        <p:blipFill>
          <a:blip r:embed="rId2"/>
          <a:stretch>
            <a:fillRect/>
          </a:stretch>
        </p:blipFill>
        <p:spPr>
          <a:xfrm>
            <a:off x="411480" y="155448"/>
            <a:ext cx="694944" cy="694944"/>
          </a:xfrm>
          <a:prstGeom prst="rect">
            <a:avLst/>
          </a:prstGeom>
        </p:spPr>
      </p:pic>
      <p:sp>
        <p:nvSpPr>
          <p:cNvPr id="5" name="TextBox 4"/>
          <p:cNvSpPr txBox="1"/>
          <p:nvPr/>
        </p:nvSpPr>
        <p:spPr>
          <a:xfrm>
            <a:off x="1325880" y="137160"/>
            <a:ext cx="10424160" cy="731520"/>
          </a:xfrm>
          <a:prstGeom prst="rect">
            <a:avLst/>
          </a:prstGeom>
          <a:noFill/>
        </p:spPr>
        <p:txBody>
          <a:bodyPr wrap="square" anchor="ctr" lIns="0" rIns="0" tIns="0" bIns="0">
            <a:spAutoFit/>
          </a:bodyPr>
          <a:lstStyle/>
          <a:p>
            <a:pPr algn="l">
              <a:spcAft>
                <a:spcPts val="0"/>
              </a:spcAft>
            </a:pPr>
            <a:r>
              <a:rPr sz="2800" b="1">
                <a:solidFill>
                  <a:srgbClr val="FFFFFF"/>
                </a:solidFill>
                <a:latin typeface="Segoe UI"/>
              </a:rPr>
              <a:t>Where the numbers come from</a:t>
            </a:r>
          </a:p>
        </p:txBody>
      </p:sp>
      <p:sp>
        <p:nvSpPr>
          <p:cNvPr id="6" name="TextBox 5"/>
          <p:cNvSpPr txBox="1"/>
          <p:nvPr/>
        </p:nvSpPr>
        <p:spPr>
          <a:xfrm>
            <a:off x="457200" y="6492240"/>
            <a:ext cx="5486400" cy="274320"/>
          </a:xfrm>
          <a:prstGeom prst="rect">
            <a:avLst/>
          </a:prstGeom>
          <a:noFill/>
        </p:spPr>
        <p:txBody>
          <a:bodyPr wrap="square" anchor="t" lIns="0" rIns="0" tIns="0" bIns="0">
            <a:spAutoFit/>
          </a:bodyPr>
          <a:lstStyle/>
          <a:p>
            <a:pPr algn="l">
              <a:spcAft>
                <a:spcPts val="0"/>
              </a:spcAft>
            </a:pPr>
            <a:r>
              <a:rPr sz="1000" b="0">
                <a:solidFill>
                  <a:srgbClr val="6B6580"/>
                </a:solidFill>
                <a:latin typeface="Segoe UI"/>
              </a:rPr>
              <a:t>Palmpay sales analysis  |  2007 to 2011</a:t>
            </a:r>
          </a:p>
        </p:txBody>
      </p:sp>
      <p:sp>
        <p:nvSpPr>
          <p:cNvPr id="7" name="TextBox 6"/>
          <p:cNvSpPr txBox="1"/>
          <p:nvPr/>
        </p:nvSpPr>
        <p:spPr>
          <a:xfrm>
            <a:off x="11155680" y="6492240"/>
            <a:ext cx="594360" cy="274320"/>
          </a:xfrm>
          <a:prstGeom prst="rect">
            <a:avLst/>
          </a:prstGeom>
          <a:noFill/>
        </p:spPr>
        <p:txBody>
          <a:bodyPr wrap="square" anchor="t" lIns="0" rIns="0" tIns="0" bIns="0">
            <a:spAutoFit/>
          </a:bodyPr>
          <a:lstStyle/>
          <a:p>
            <a:pPr algn="r">
              <a:spcAft>
                <a:spcPts val="0"/>
              </a:spcAft>
            </a:pPr>
            <a:r>
              <a:rPr sz="1000" b="0">
                <a:solidFill>
                  <a:srgbClr val="6B6580"/>
                </a:solidFill>
                <a:latin typeface="Segoe UI"/>
              </a:rPr>
              <a:t>2</a:t>
            </a:r>
          </a:p>
        </p:txBody>
      </p:sp>
      <p:sp>
        <p:nvSpPr>
          <p:cNvPr id="8" name="Rounded Rectangle 7"/>
          <p:cNvSpPr/>
          <p:nvPr/>
        </p:nvSpPr>
        <p:spPr>
          <a:xfrm>
            <a:off x="548640" y="1737360"/>
            <a:ext cx="3474720" cy="3291840"/>
          </a:xfrm>
          <a:prstGeom prst="roundRect">
            <a:avLst>
              <a:gd name="adj" fmla="val 3000"/>
            </a:avLst>
          </a:prstGeom>
          <a:solidFill>
            <a:srgbClr val="FFFFFF"/>
          </a:solidFill>
          <a:ln w="9525">
            <a:solidFill>
              <a:srgbClr val="E4DD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737360"/>
            <a:ext cx="3474720" cy="128016"/>
          </a:xfrm>
          <a:prstGeom prst="rect">
            <a:avLst/>
          </a:prstGeom>
          <a:solidFill>
            <a:srgbClr val="703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468880"/>
            <a:ext cx="2926080" cy="914400"/>
          </a:xfrm>
          <a:prstGeom prst="rect">
            <a:avLst/>
          </a:prstGeom>
          <a:noFill/>
        </p:spPr>
        <p:txBody>
          <a:bodyPr wrap="square" anchor="t" lIns="0" rIns="0" tIns="0" bIns="0">
            <a:spAutoFit/>
          </a:bodyPr>
          <a:lstStyle/>
          <a:p>
            <a:pPr algn="l">
              <a:spcAft>
                <a:spcPts val="0"/>
              </a:spcAft>
            </a:pPr>
            <a:r>
              <a:rPr sz="4000" b="1">
                <a:solidFill>
                  <a:srgbClr val="7031C5"/>
                </a:solidFill>
                <a:latin typeface="Segoe UI"/>
              </a:rPr>
              <a:t>5 years</a:t>
            </a:r>
          </a:p>
        </p:txBody>
      </p:sp>
      <p:sp>
        <p:nvSpPr>
          <p:cNvPr id="11" name="TextBox 10"/>
          <p:cNvSpPr txBox="1"/>
          <p:nvPr/>
        </p:nvSpPr>
        <p:spPr>
          <a:xfrm>
            <a:off x="822959" y="3566160"/>
            <a:ext cx="2926080" cy="1097280"/>
          </a:xfrm>
          <a:prstGeom prst="rect">
            <a:avLst/>
          </a:prstGeom>
          <a:noFill/>
        </p:spPr>
        <p:txBody>
          <a:bodyPr wrap="square" anchor="t" lIns="0" rIns="0" tIns="0" bIns="0">
            <a:spAutoFit/>
          </a:bodyPr>
          <a:lstStyle/>
          <a:p>
            <a:pPr algn="l">
              <a:spcAft>
                <a:spcPts val="0"/>
              </a:spcAft>
            </a:pPr>
            <a:r>
              <a:rPr sz="1800" b="0">
                <a:solidFill>
                  <a:srgbClr val="2D2A3A"/>
                </a:solidFill>
                <a:latin typeface="Segoe UI"/>
              </a:rPr>
              <a:t>January 2007 to December 2011</a:t>
            </a:r>
          </a:p>
        </p:txBody>
      </p:sp>
      <p:sp>
        <p:nvSpPr>
          <p:cNvPr id="12" name="Rounded Rectangle 11"/>
          <p:cNvSpPr/>
          <p:nvPr/>
        </p:nvSpPr>
        <p:spPr>
          <a:xfrm>
            <a:off x="4297679" y="1737360"/>
            <a:ext cx="3474720" cy="3291840"/>
          </a:xfrm>
          <a:prstGeom prst="roundRect">
            <a:avLst>
              <a:gd name="adj" fmla="val 3000"/>
            </a:avLst>
          </a:prstGeom>
          <a:solidFill>
            <a:srgbClr val="FFFFFF"/>
          </a:solidFill>
          <a:ln w="9525">
            <a:solidFill>
              <a:srgbClr val="E4DD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79" y="1737360"/>
            <a:ext cx="3474720" cy="128016"/>
          </a:xfrm>
          <a:prstGeom prst="rect">
            <a:avLst/>
          </a:prstGeom>
          <a:solidFill>
            <a:srgbClr val="EC5A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1999" y="2468880"/>
            <a:ext cx="2926080" cy="914400"/>
          </a:xfrm>
          <a:prstGeom prst="rect">
            <a:avLst/>
          </a:prstGeom>
          <a:noFill/>
        </p:spPr>
        <p:txBody>
          <a:bodyPr wrap="square" anchor="t" lIns="0" rIns="0" tIns="0" bIns="0">
            <a:spAutoFit/>
          </a:bodyPr>
          <a:lstStyle/>
          <a:p>
            <a:pPr algn="l">
              <a:spcAft>
                <a:spcPts val="0"/>
              </a:spcAft>
            </a:pPr>
            <a:r>
              <a:rPr sz="4000" b="1">
                <a:solidFill>
                  <a:srgbClr val="7031C5"/>
                </a:solidFill>
                <a:latin typeface="Segoe UI"/>
              </a:rPr>
              <a:t>2 countries</a:t>
            </a:r>
          </a:p>
        </p:txBody>
      </p:sp>
      <p:sp>
        <p:nvSpPr>
          <p:cNvPr id="15" name="TextBox 14"/>
          <p:cNvSpPr txBox="1"/>
          <p:nvPr/>
        </p:nvSpPr>
        <p:spPr>
          <a:xfrm>
            <a:off x="4571999" y="3566160"/>
            <a:ext cx="2926080" cy="1097280"/>
          </a:xfrm>
          <a:prstGeom prst="rect">
            <a:avLst/>
          </a:prstGeom>
          <a:noFill/>
        </p:spPr>
        <p:txBody>
          <a:bodyPr wrap="square" anchor="t" lIns="0" rIns="0" tIns="0" bIns="0">
            <a:spAutoFit/>
          </a:bodyPr>
          <a:lstStyle/>
          <a:p>
            <a:pPr algn="l">
              <a:spcAft>
                <a:spcPts val="0"/>
              </a:spcAft>
            </a:pPr>
            <a:r>
              <a:rPr sz="1800" b="0">
                <a:solidFill>
                  <a:srgbClr val="2D2A3A"/>
                </a:solidFill>
                <a:latin typeface="Segoe UI"/>
              </a:rPr>
              <a:t>United States and Germany</a:t>
            </a:r>
          </a:p>
        </p:txBody>
      </p:sp>
      <p:sp>
        <p:nvSpPr>
          <p:cNvPr id="16" name="Rounded Rectangle 15"/>
          <p:cNvSpPr/>
          <p:nvPr/>
        </p:nvSpPr>
        <p:spPr>
          <a:xfrm>
            <a:off x="8046719" y="1737360"/>
            <a:ext cx="3474720" cy="3291840"/>
          </a:xfrm>
          <a:prstGeom prst="roundRect">
            <a:avLst>
              <a:gd name="adj" fmla="val 3000"/>
            </a:avLst>
          </a:prstGeom>
          <a:solidFill>
            <a:srgbClr val="FFFFFF"/>
          </a:solidFill>
          <a:ln w="9525">
            <a:solidFill>
              <a:srgbClr val="E4DD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19" y="1737360"/>
            <a:ext cx="3474720" cy="128016"/>
          </a:xfrm>
          <a:prstGeom prst="rect">
            <a:avLst/>
          </a:prstGeom>
          <a:solidFill>
            <a:srgbClr val="703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2468880"/>
            <a:ext cx="2926080" cy="914400"/>
          </a:xfrm>
          <a:prstGeom prst="rect">
            <a:avLst/>
          </a:prstGeom>
          <a:noFill/>
        </p:spPr>
        <p:txBody>
          <a:bodyPr wrap="square" anchor="t" lIns="0" rIns="0" tIns="0" bIns="0">
            <a:spAutoFit/>
          </a:bodyPr>
          <a:lstStyle/>
          <a:p>
            <a:pPr algn="l">
              <a:spcAft>
                <a:spcPts val="0"/>
              </a:spcAft>
            </a:pPr>
            <a:r>
              <a:rPr sz="4000" b="1">
                <a:solidFill>
                  <a:srgbClr val="7031C5"/>
                </a:solidFill>
                <a:latin typeface="Segoe UI"/>
              </a:rPr>
              <a:t>US dollars</a:t>
            </a:r>
          </a:p>
        </p:txBody>
      </p:sp>
      <p:sp>
        <p:nvSpPr>
          <p:cNvPr id="19" name="TextBox 18"/>
          <p:cNvSpPr txBox="1"/>
          <p:nvPr/>
        </p:nvSpPr>
        <p:spPr>
          <a:xfrm>
            <a:off x="8321040" y="3566160"/>
            <a:ext cx="2926080" cy="1097280"/>
          </a:xfrm>
          <a:prstGeom prst="rect">
            <a:avLst/>
          </a:prstGeom>
          <a:noFill/>
        </p:spPr>
        <p:txBody>
          <a:bodyPr wrap="square" anchor="t" lIns="0" rIns="0" tIns="0" bIns="0">
            <a:spAutoFit/>
          </a:bodyPr>
          <a:lstStyle/>
          <a:p>
            <a:pPr algn="l">
              <a:spcAft>
                <a:spcPts val="0"/>
              </a:spcAft>
            </a:pPr>
            <a:r>
              <a:rPr sz="1800" b="0">
                <a:solidFill>
                  <a:srgbClr val="2D2A3A"/>
                </a:solidFill>
                <a:latin typeface="Segoe UI"/>
              </a:rPr>
              <a:t>One currency, so the comparison is fair</a:t>
            </a:r>
          </a:p>
        </p:txBody>
      </p:sp>
      <p:sp>
        <p:nvSpPr>
          <p:cNvPr id="20" name="TextBox 19"/>
          <p:cNvSpPr txBox="1"/>
          <p:nvPr/>
        </p:nvSpPr>
        <p:spPr>
          <a:xfrm>
            <a:off x="548640" y="5440680"/>
            <a:ext cx="10972800" cy="457200"/>
          </a:xfrm>
          <a:prstGeom prst="rect">
            <a:avLst/>
          </a:prstGeom>
          <a:noFill/>
        </p:spPr>
        <p:txBody>
          <a:bodyPr wrap="square" anchor="t" lIns="0" rIns="0" tIns="0" bIns="0">
            <a:spAutoFit/>
          </a:bodyPr>
          <a:lstStyle/>
          <a:p>
            <a:pPr algn="l">
              <a:spcAft>
                <a:spcPts val="0"/>
              </a:spcAft>
            </a:pPr>
            <a:r>
              <a:rPr sz="1600" b="0">
                <a:solidFill>
                  <a:srgbClr val="6B6580"/>
                </a:solidFill>
                <a:latin typeface="Segoe UI"/>
              </a:rPr>
              <a:t>Silicon Valley Bikes is left out only for the 2008 crisis.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1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3C1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EC5A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almpay logo.png"/>
          <p:cNvPicPr>
            <a:picLocks noChangeAspect="1"/>
          </p:cNvPicPr>
          <p:nvPr/>
        </p:nvPicPr>
        <p:blipFill>
          <a:blip r:embed="rId2"/>
          <a:stretch>
            <a:fillRect/>
          </a:stretch>
        </p:blipFill>
        <p:spPr>
          <a:xfrm>
            <a:off x="411480" y="155448"/>
            <a:ext cx="694944" cy="694944"/>
          </a:xfrm>
          <a:prstGeom prst="rect">
            <a:avLst/>
          </a:prstGeom>
        </p:spPr>
      </p:pic>
      <p:sp>
        <p:nvSpPr>
          <p:cNvPr id="5" name="TextBox 4"/>
          <p:cNvSpPr txBox="1"/>
          <p:nvPr/>
        </p:nvSpPr>
        <p:spPr>
          <a:xfrm>
            <a:off x="1325880" y="137160"/>
            <a:ext cx="10424160" cy="731520"/>
          </a:xfrm>
          <a:prstGeom prst="rect">
            <a:avLst/>
          </a:prstGeom>
          <a:noFill/>
        </p:spPr>
        <p:txBody>
          <a:bodyPr wrap="square" anchor="ctr" lIns="0" rIns="0" tIns="0" bIns="0">
            <a:spAutoFit/>
          </a:bodyPr>
          <a:lstStyle/>
          <a:p>
            <a:pPr algn="l">
              <a:spcAft>
                <a:spcPts val="0"/>
              </a:spcAft>
            </a:pPr>
            <a:r>
              <a:rPr sz="2800" b="1">
                <a:solidFill>
                  <a:srgbClr val="FFFFFF"/>
                </a:solidFill>
                <a:latin typeface="Segoe UI"/>
              </a:rPr>
              <a:t>Healthy on the surface</a:t>
            </a:r>
          </a:p>
        </p:txBody>
      </p:sp>
      <p:sp>
        <p:nvSpPr>
          <p:cNvPr id="6" name="TextBox 5"/>
          <p:cNvSpPr txBox="1"/>
          <p:nvPr/>
        </p:nvSpPr>
        <p:spPr>
          <a:xfrm>
            <a:off x="457200" y="6492240"/>
            <a:ext cx="5486400" cy="274320"/>
          </a:xfrm>
          <a:prstGeom prst="rect">
            <a:avLst/>
          </a:prstGeom>
          <a:noFill/>
        </p:spPr>
        <p:txBody>
          <a:bodyPr wrap="square" anchor="t" lIns="0" rIns="0" tIns="0" bIns="0">
            <a:spAutoFit/>
          </a:bodyPr>
          <a:lstStyle/>
          <a:p>
            <a:pPr algn="l">
              <a:spcAft>
                <a:spcPts val="0"/>
              </a:spcAft>
            </a:pPr>
            <a:r>
              <a:rPr sz="1000" b="0">
                <a:solidFill>
                  <a:srgbClr val="6B6580"/>
                </a:solidFill>
                <a:latin typeface="Segoe UI"/>
              </a:rPr>
              <a:t>Palmpay sales analysis  |  2007 to 2011</a:t>
            </a:r>
          </a:p>
        </p:txBody>
      </p:sp>
      <p:sp>
        <p:nvSpPr>
          <p:cNvPr id="7" name="TextBox 6"/>
          <p:cNvSpPr txBox="1"/>
          <p:nvPr/>
        </p:nvSpPr>
        <p:spPr>
          <a:xfrm>
            <a:off x="11155680" y="6492240"/>
            <a:ext cx="594360" cy="274320"/>
          </a:xfrm>
          <a:prstGeom prst="rect">
            <a:avLst/>
          </a:prstGeom>
          <a:noFill/>
        </p:spPr>
        <p:txBody>
          <a:bodyPr wrap="square" anchor="t" lIns="0" rIns="0" tIns="0" bIns="0">
            <a:spAutoFit/>
          </a:bodyPr>
          <a:lstStyle/>
          <a:p>
            <a:pPr algn="r">
              <a:spcAft>
                <a:spcPts val="0"/>
              </a:spcAft>
            </a:pPr>
            <a:r>
              <a:rPr sz="1000" b="0">
                <a:solidFill>
                  <a:srgbClr val="6B6580"/>
                </a:solidFill>
                <a:latin typeface="Segoe UI"/>
              </a:rPr>
              <a:t>3</a:t>
            </a:r>
          </a:p>
        </p:txBody>
      </p:sp>
      <p:sp>
        <p:nvSpPr>
          <p:cNvPr id="8" name="Rounded Rectangle 7"/>
          <p:cNvSpPr/>
          <p:nvPr/>
        </p:nvSpPr>
        <p:spPr>
          <a:xfrm>
            <a:off x="548640" y="1737360"/>
            <a:ext cx="2606040" cy="2743200"/>
          </a:xfrm>
          <a:prstGeom prst="roundRect">
            <a:avLst>
              <a:gd name="adj" fmla="val 3000"/>
            </a:avLst>
          </a:prstGeom>
          <a:solidFill>
            <a:srgbClr val="FFFFFF"/>
          </a:solidFill>
          <a:ln w="9525">
            <a:solidFill>
              <a:srgbClr val="E4DD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737360"/>
            <a:ext cx="2606040" cy="128016"/>
          </a:xfrm>
          <a:prstGeom prst="rect">
            <a:avLst/>
          </a:prstGeom>
          <a:solidFill>
            <a:srgbClr val="703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331720"/>
            <a:ext cx="2240280" cy="914400"/>
          </a:xfrm>
          <a:prstGeom prst="rect">
            <a:avLst/>
          </a:prstGeom>
          <a:noFill/>
        </p:spPr>
        <p:txBody>
          <a:bodyPr wrap="square" anchor="t" lIns="0" rIns="0" tIns="0" bIns="0">
            <a:spAutoFit/>
          </a:bodyPr>
          <a:lstStyle/>
          <a:p>
            <a:pPr algn="ctr">
              <a:spcAft>
                <a:spcPts val="0"/>
              </a:spcAft>
            </a:pPr>
            <a:r>
              <a:rPr sz="4800" b="1">
                <a:solidFill>
                  <a:srgbClr val="7031C5"/>
                </a:solidFill>
                <a:latin typeface="Segoe UI"/>
              </a:rPr>
              <a:t>$285M</a:t>
            </a:r>
          </a:p>
        </p:txBody>
      </p:sp>
      <p:sp>
        <p:nvSpPr>
          <p:cNvPr id="11" name="TextBox 10"/>
          <p:cNvSpPr txBox="1"/>
          <p:nvPr/>
        </p:nvSpPr>
        <p:spPr>
          <a:xfrm>
            <a:off x="731520" y="3520440"/>
            <a:ext cx="2240280" cy="548640"/>
          </a:xfrm>
          <a:prstGeom prst="rect">
            <a:avLst/>
          </a:prstGeom>
          <a:noFill/>
        </p:spPr>
        <p:txBody>
          <a:bodyPr wrap="square" anchor="t" lIns="0" rIns="0" tIns="0" bIns="0">
            <a:spAutoFit/>
          </a:bodyPr>
          <a:lstStyle/>
          <a:p>
            <a:pPr algn="ctr">
              <a:spcAft>
                <a:spcPts val="0"/>
              </a:spcAft>
            </a:pPr>
            <a:r>
              <a:rPr sz="2000" b="0">
                <a:solidFill>
                  <a:srgbClr val="2D2A3A"/>
                </a:solidFill>
                <a:latin typeface="Segoe UI"/>
              </a:rPr>
              <a:t>revenue</a:t>
            </a:r>
          </a:p>
        </p:txBody>
      </p:sp>
      <p:sp>
        <p:nvSpPr>
          <p:cNvPr id="12" name="Rounded Rectangle 11"/>
          <p:cNvSpPr/>
          <p:nvPr/>
        </p:nvSpPr>
        <p:spPr>
          <a:xfrm>
            <a:off x="3364992" y="1737360"/>
            <a:ext cx="2606040" cy="2743200"/>
          </a:xfrm>
          <a:prstGeom prst="roundRect">
            <a:avLst>
              <a:gd name="adj" fmla="val 3000"/>
            </a:avLst>
          </a:prstGeom>
          <a:solidFill>
            <a:srgbClr val="FFFFFF"/>
          </a:solidFill>
          <a:ln w="9525">
            <a:solidFill>
              <a:srgbClr val="E4DD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64992" y="1737360"/>
            <a:ext cx="2606040" cy="128016"/>
          </a:xfrm>
          <a:prstGeom prst="rect">
            <a:avLst/>
          </a:prstGeom>
          <a:solidFill>
            <a:srgbClr val="703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47872" y="2331720"/>
            <a:ext cx="2240280" cy="914400"/>
          </a:xfrm>
          <a:prstGeom prst="rect">
            <a:avLst/>
          </a:prstGeom>
          <a:noFill/>
        </p:spPr>
        <p:txBody>
          <a:bodyPr wrap="square" anchor="t" lIns="0" rIns="0" tIns="0" bIns="0">
            <a:spAutoFit/>
          </a:bodyPr>
          <a:lstStyle/>
          <a:p>
            <a:pPr algn="ctr">
              <a:spcAft>
                <a:spcPts val="0"/>
              </a:spcAft>
            </a:pPr>
            <a:r>
              <a:rPr sz="4800" b="1">
                <a:solidFill>
                  <a:srgbClr val="7031C5"/>
                </a:solidFill>
                <a:latin typeface="Segoe UI"/>
              </a:rPr>
              <a:t>$149M</a:t>
            </a:r>
          </a:p>
        </p:txBody>
      </p:sp>
      <p:sp>
        <p:nvSpPr>
          <p:cNvPr id="15" name="TextBox 14"/>
          <p:cNvSpPr txBox="1"/>
          <p:nvPr/>
        </p:nvSpPr>
        <p:spPr>
          <a:xfrm>
            <a:off x="3547872" y="3520440"/>
            <a:ext cx="2240280" cy="548640"/>
          </a:xfrm>
          <a:prstGeom prst="rect">
            <a:avLst/>
          </a:prstGeom>
          <a:noFill/>
        </p:spPr>
        <p:txBody>
          <a:bodyPr wrap="square" anchor="t" lIns="0" rIns="0" tIns="0" bIns="0">
            <a:spAutoFit/>
          </a:bodyPr>
          <a:lstStyle/>
          <a:p>
            <a:pPr algn="ctr">
              <a:spcAft>
                <a:spcPts val="0"/>
              </a:spcAft>
            </a:pPr>
            <a:r>
              <a:rPr sz="2000" b="0">
                <a:solidFill>
                  <a:srgbClr val="2D2A3A"/>
                </a:solidFill>
                <a:latin typeface="Segoe UI"/>
              </a:rPr>
              <a:t>gross profit</a:t>
            </a:r>
          </a:p>
        </p:txBody>
      </p:sp>
      <p:sp>
        <p:nvSpPr>
          <p:cNvPr id="16" name="Rounded Rectangle 15"/>
          <p:cNvSpPr/>
          <p:nvPr/>
        </p:nvSpPr>
        <p:spPr>
          <a:xfrm>
            <a:off x="6181344" y="1737360"/>
            <a:ext cx="2606040" cy="2743200"/>
          </a:xfrm>
          <a:prstGeom prst="roundRect">
            <a:avLst>
              <a:gd name="adj" fmla="val 3000"/>
            </a:avLst>
          </a:prstGeom>
          <a:solidFill>
            <a:srgbClr val="FFFFFF"/>
          </a:solidFill>
          <a:ln w="9525">
            <a:solidFill>
              <a:srgbClr val="E4DD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1344" y="1737360"/>
            <a:ext cx="2606040" cy="128016"/>
          </a:xfrm>
          <a:prstGeom prst="rect">
            <a:avLst/>
          </a:prstGeom>
          <a:solidFill>
            <a:srgbClr val="EC5A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4224" y="2331720"/>
            <a:ext cx="2240280" cy="914400"/>
          </a:xfrm>
          <a:prstGeom prst="rect">
            <a:avLst/>
          </a:prstGeom>
          <a:noFill/>
        </p:spPr>
        <p:txBody>
          <a:bodyPr wrap="square" anchor="t" lIns="0" rIns="0" tIns="0" bIns="0">
            <a:spAutoFit/>
          </a:bodyPr>
          <a:lstStyle/>
          <a:p>
            <a:pPr algn="ctr">
              <a:spcAft>
                <a:spcPts val="0"/>
              </a:spcAft>
            </a:pPr>
            <a:r>
              <a:rPr sz="4800" b="1">
                <a:solidFill>
                  <a:srgbClr val="7031C5"/>
                </a:solidFill>
                <a:latin typeface="Segoe UI"/>
              </a:rPr>
              <a:t>52.3%</a:t>
            </a:r>
          </a:p>
        </p:txBody>
      </p:sp>
      <p:sp>
        <p:nvSpPr>
          <p:cNvPr id="19" name="TextBox 18"/>
          <p:cNvSpPr txBox="1"/>
          <p:nvPr/>
        </p:nvSpPr>
        <p:spPr>
          <a:xfrm>
            <a:off x="6364224" y="3520440"/>
            <a:ext cx="2240280" cy="548640"/>
          </a:xfrm>
          <a:prstGeom prst="rect">
            <a:avLst/>
          </a:prstGeom>
          <a:noFill/>
        </p:spPr>
        <p:txBody>
          <a:bodyPr wrap="square" anchor="t" lIns="0" rIns="0" tIns="0" bIns="0">
            <a:spAutoFit/>
          </a:bodyPr>
          <a:lstStyle/>
          <a:p>
            <a:pPr algn="ctr">
              <a:spcAft>
                <a:spcPts val="0"/>
              </a:spcAft>
            </a:pPr>
            <a:r>
              <a:rPr sz="2000" b="0">
                <a:solidFill>
                  <a:srgbClr val="2D2A3A"/>
                </a:solidFill>
                <a:latin typeface="Segoe UI"/>
              </a:rPr>
              <a:t>profit margin</a:t>
            </a:r>
          </a:p>
        </p:txBody>
      </p:sp>
      <p:sp>
        <p:nvSpPr>
          <p:cNvPr id="20" name="Rounded Rectangle 19"/>
          <p:cNvSpPr/>
          <p:nvPr/>
        </p:nvSpPr>
        <p:spPr>
          <a:xfrm>
            <a:off x="8997696" y="1737360"/>
            <a:ext cx="2606040" cy="2743200"/>
          </a:xfrm>
          <a:prstGeom prst="roundRect">
            <a:avLst>
              <a:gd name="adj" fmla="val 3000"/>
            </a:avLst>
          </a:prstGeom>
          <a:solidFill>
            <a:srgbClr val="FFFFFF"/>
          </a:solidFill>
          <a:ln w="9525">
            <a:solidFill>
              <a:srgbClr val="E4DD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97696" y="1737360"/>
            <a:ext cx="2606040" cy="128016"/>
          </a:xfrm>
          <a:prstGeom prst="rect">
            <a:avLst/>
          </a:prstGeom>
          <a:solidFill>
            <a:srgbClr val="703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80576" y="2331720"/>
            <a:ext cx="2240280" cy="914400"/>
          </a:xfrm>
          <a:prstGeom prst="rect">
            <a:avLst/>
          </a:prstGeom>
          <a:noFill/>
        </p:spPr>
        <p:txBody>
          <a:bodyPr wrap="square" anchor="t" lIns="0" rIns="0" tIns="0" bIns="0">
            <a:spAutoFit/>
          </a:bodyPr>
          <a:lstStyle/>
          <a:p>
            <a:pPr algn="ctr">
              <a:spcAft>
                <a:spcPts val="0"/>
              </a:spcAft>
            </a:pPr>
            <a:r>
              <a:rPr sz="4800" b="1">
                <a:solidFill>
                  <a:srgbClr val="7031C5"/>
                </a:solidFill>
                <a:latin typeface="Segoe UI"/>
              </a:rPr>
              <a:t>169K</a:t>
            </a:r>
          </a:p>
        </p:txBody>
      </p:sp>
      <p:sp>
        <p:nvSpPr>
          <p:cNvPr id="23" name="TextBox 22"/>
          <p:cNvSpPr txBox="1"/>
          <p:nvPr/>
        </p:nvSpPr>
        <p:spPr>
          <a:xfrm>
            <a:off x="9180576" y="3520440"/>
            <a:ext cx="2240280" cy="548640"/>
          </a:xfrm>
          <a:prstGeom prst="rect">
            <a:avLst/>
          </a:prstGeom>
          <a:noFill/>
        </p:spPr>
        <p:txBody>
          <a:bodyPr wrap="square" anchor="t" lIns="0" rIns="0" tIns="0" bIns="0">
            <a:spAutoFit/>
          </a:bodyPr>
          <a:lstStyle/>
          <a:p>
            <a:pPr algn="ctr">
              <a:spcAft>
                <a:spcPts val="0"/>
              </a:spcAft>
            </a:pPr>
            <a:r>
              <a:rPr sz="2000" b="0">
                <a:solidFill>
                  <a:srgbClr val="2D2A3A"/>
                </a:solidFill>
                <a:latin typeface="Segoe UI"/>
              </a:rPr>
              <a:t>items sold</a:t>
            </a:r>
          </a:p>
        </p:txBody>
      </p:sp>
      <p:sp>
        <p:nvSpPr>
          <p:cNvPr id="24" name="TextBox 23"/>
          <p:cNvSpPr txBox="1"/>
          <p:nvPr/>
        </p:nvSpPr>
        <p:spPr>
          <a:xfrm>
            <a:off x="548640" y="4937760"/>
            <a:ext cx="11064240" cy="822960"/>
          </a:xfrm>
          <a:prstGeom prst="rect">
            <a:avLst/>
          </a:prstGeom>
          <a:noFill/>
        </p:spPr>
        <p:txBody>
          <a:bodyPr wrap="square" anchor="t" lIns="0" rIns="0" tIns="0" bIns="0">
            <a:spAutoFit/>
          </a:bodyPr>
          <a:lstStyle/>
          <a:p>
            <a:pPr algn="l">
              <a:spcAft>
                <a:spcPts val="0"/>
              </a:spcAft>
            </a:pPr>
            <a:r>
              <a:rPr sz="2200" b="1">
                <a:solidFill>
                  <a:srgbClr val="3C1A6E"/>
                </a:solidFill>
                <a:latin typeface="Segoe UI"/>
              </a:rPr>
              <a:t>Five years, two countries. The story is underneath the totals.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1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3C1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EC5A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almpay logo.png"/>
          <p:cNvPicPr>
            <a:picLocks noChangeAspect="1"/>
          </p:cNvPicPr>
          <p:nvPr/>
        </p:nvPicPr>
        <p:blipFill>
          <a:blip r:embed="rId2"/>
          <a:stretch>
            <a:fillRect/>
          </a:stretch>
        </p:blipFill>
        <p:spPr>
          <a:xfrm>
            <a:off x="411480" y="155448"/>
            <a:ext cx="694944" cy="694944"/>
          </a:xfrm>
          <a:prstGeom prst="rect">
            <a:avLst/>
          </a:prstGeom>
        </p:spPr>
      </p:pic>
      <p:sp>
        <p:nvSpPr>
          <p:cNvPr id="5" name="TextBox 4"/>
          <p:cNvSpPr txBox="1"/>
          <p:nvPr/>
        </p:nvSpPr>
        <p:spPr>
          <a:xfrm>
            <a:off x="1325880" y="137160"/>
            <a:ext cx="10424160" cy="731520"/>
          </a:xfrm>
          <a:prstGeom prst="rect">
            <a:avLst/>
          </a:prstGeom>
          <a:noFill/>
        </p:spPr>
        <p:txBody>
          <a:bodyPr wrap="square" anchor="ctr" lIns="0" rIns="0" tIns="0" bIns="0">
            <a:spAutoFit/>
          </a:bodyPr>
          <a:lstStyle/>
          <a:p>
            <a:pPr algn="l">
              <a:spcAft>
                <a:spcPts val="0"/>
              </a:spcAft>
            </a:pPr>
            <a:r>
              <a:rPr sz="2800" b="1">
                <a:solidFill>
                  <a:srgbClr val="FFFFFF"/>
                </a:solidFill>
                <a:latin typeface="Segoe UI"/>
              </a:rPr>
              <a:t>Germany grew. The US fell in 2009</a:t>
            </a:r>
          </a:p>
        </p:txBody>
      </p:sp>
      <p:sp>
        <p:nvSpPr>
          <p:cNvPr id="6" name="TextBox 5"/>
          <p:cNvSpPr txBox="1"/>
          <p:nvPr/>
        </p:nvSpPr>
        <p:spPr>
          <a:xfrm>
            <a:off x="457200" y="6492240"/>
            <a:ext cx="5486400" cy="274320"/>
          </a:xfrm>
          <a:prstGeom prst="rect">
            <a:avLst/>
          </a:prstGeom>
          <a:noFill/>
        </p:spPr>
        <p:txBody>
          <a:bodyPr wrap="square" anchor="t" lIns="0" rIns="0" tIns="0" bIns="0">
            <a:spAutoFit/>
          </a:bodyPr>
          <a:lstStyle/>
          <a:p>
            <a:pPr algn="l">
              <a:spcAft>
                <a:spcPts val="0"/>
              </a:spcAft>
            </a:pPr>
            <a:r>
              <a:rPr sz="1000" b="0">
                <a:solidFill>
                  <a:srgbClr val="6B6580"/>
                </a:solidFill>
                <a:latin typeface="Segoe UI"/>
              </a:rPr>
              <a:t>Palmpay sales analysis  |  2007 to 2011</a:t>
            </a:r>
          </a:p>
        </p:txBody>
      </p:sp>
      <p:sp>
        <p:nvSpPr>
          <p:cNvPr id="7" name="TextBox 6"/>
          <p:cNvSpPr txBox="1"/>
          <p:nvPr/>
        </p:nvSpPr>
        <p:spPr>
          <a:xfrm>
            <a:off x="11155680" y="6492240"/>
            <a:ext cx="594360" cy="274320"/>
          </a:xfrm>
          <a:prstGeom prst="rect">
            <a:avLst/>
          </a:prstGeom>
          <a:noFill/>
        </p:spPr>
        <p:txBody>
          <a:bodyPr wrap="square" anchor="t" lIns="0" rIns="0" tIns="0" bIns="0">
            <a:spAutoFit/>
          </a:bodyPr>
          <a:lstStyle/>
          <a:p>
            <a:pPr algn="r">
              <a:spcAft>
                <a:spcPts val="0"/>
              </a:spcAft>
            </a:pPr>
            <a:r>
              <a:rPr sz="1000" b="0">
                <a:solidFill>
                  <a:srgbClr val="6B6580"/>
                </a:solidFill>
                <a:latin typeface="Segoe UI"/>
              </a:rPr>
              <a:t>4</a:t>
            </a:r>
          </a:p>
        </p:txBody>
      </p:sp>
      <p:sp>
        <p:nvSpPr>
          <p:cNvPr id="8" name="Rounded Rectangle 7"/>
          <p:cNvSpPr/>
          <p:nvPr/>
        </p:nvSpPr>
        <p:spPr>
          <a:xfrm>
            <a:off x="457200" y="1325880"/>
            <a:ext cx="7680960" cy="4937760"/>
          </a:xfrm>
          <a:prstGeom prst="roundRect">
            <a:avLst>
              <a:gd name="adj" fmla="val 3000"/>
            </a:avLst>
          </a:prstGeom>
          <a:solidFill>
            <a:srgbClr val="FFFFFF"/>
          </a:solidFill>
          <a:ln w="9525">
            <a:solidFill>
              <a:srgbClr val="E4DD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63040"/>
            <a:ext cx="7132320" cy="365760"/>
          </a:xfrm>
          <a:prstGeom prst="rect">
            <a:avLst/>
          </a:prstGeom>
          <a:noFill/>
        </p:spPr>
        <p:txBody>
          <a:bodyPr wrap="square" anchor="t" lIns="0" rIns="0" tIns="0" bIns="0">
            <a:spAutoFit/>
          </a:bodyPr>
          <a:lstStyle/>
          <a:p>
            <a:pPr algn="l">
              <a:spcAft>
                <a:spcPts val="0"/>
              </a:spcAft>
            </a:pPr>
            <a:r>
              <a:rPr sz="1400" b="1">
                <a:solidFill>
                  <a:srgbClr val="6B6580"/>
                </a:solidFill>
                <a:latin typeface="Segoe UI"/>
              </a:rPr>
              <a:t>Revenue by year, $ millions</a:t>
            </a:r>
          </a:p>
        </p:txBody>
      </p:sp>
      <p:graphicFrame>
        <p:nvGraphicFramePr>
          <p:cNvPr id="10" name="Chart 9"/>
          <p:cNvGraphicFramePr>
            <a:graphicFrameLocks noGrp="1"/>
          </p:cNvGraphicFramePr>
          <p:nvPr/>
        </p:nvGraphicFramePr>
        <p:xfrm>
          <a:off x="640080" y="1828800"/>
          <a:ext cx="7315200" cy="4297680"/>
        </p:xfrm>
        <a:graphic>
          <a:graphicData uri="http://schemas.openxmlformats.org/drawingml/2006/chart">
            <c:chart xmlns:c="http://schemas.openxmlformats.org/drawingml/2006/chart" r:id="rId4"/>
          </a:graphicData>
        </a:graphic>
      </p:graphicFrame>
      <p:sp>
        <p:nvSpPr>
          <p:cNvPr id="11" name="Rectangle 10"/>
          <p:cNvSpPr/>
          <p:nvPr/>
        </p:nvSpPr>
        <p:spPr>
          <a:xfrm>
            <a:off x="8503920" y="1792224"/>
            <a:ext cx="64008" cy="1097280"/>
          </a:xfrm>
          <a:prstGeom prst="rect">
            <a:avLst/>
          </a:prstGeom>
          <a:solidFill>
            <a:srgbClr val="703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32520" y="1737360"/>
            <a:ext cx="3063240" cy="1280160"/>
          </a:xfrm>
          <a:prstGeom prst="rect">
            <a:avLst/>
          </a:prstGeom>
          <a:noFill/>
        </p:spPr>
        <p:txBody>
          <a:bodyPr wrap="square" anchor="t" lIns="0" rIns="0" tIns="0" bIns="0">
            <a:spAutoFit/>
          </a:bodyPr>
          <a:lstStyle/>
          <a:p>
            <a:pPr algn="l">
              <a:spcAft>
                <a:spcPts val="200"/>
              </a:spcAft>
            </a:pPr>
            <a:r>
              <a:rPr sz="4400" b="1">
                <a:solidFill>
                  <a:srgbClr val="7031C5"/>
                </a:solidFill>
                <a:latin typeface="Segoe UI"/>
              </a:rPr>
              <a:t>+14%</a:t>
            </a:r>
          </a:p>
          <a:p>
            <a:pPr algn="l">
              <a:spcAft>
                <a:spcPts val="0"/>
              </a:spcAft>
            </a:pPr>
            <a:r>
              <a:rPr sz="1400" b="0">
                <a:solidFill>
                  <a:srgbClr val="2D2A3A"/>
                </a:solidFill>
                <a:latin typeface="Segoe UI"/>
              </a:rPr>
              <a:t>Germany, 2007 to 2011</a:t>
            </a:r>
          </a:p>
        </p:txBody>
      </p:sp>
      <p:sp>
        <p:nvSpPr>
          <p:cNvPr id="13" name="Rectangle 12"/>
          <p:cNvSpPr/>
          <p:nvPr/>
        </p:nvSpPr>
        <p:spPr>
          <a:xfrm>
            <a:off x="8503920" y="3438144"/>
            <a:ext cx="64008" cy="1097280"/>
          </a:xfrm>
          <a:prstGeom prst="rect">
            <a:avLst/>
          </a:prstGeom>
          <a:solidFill>
            <a:srgbClr val="EC5A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32520" y="3383280"/>
            <a:ext cx="3063240" cy="1280160"/>
          </a:xfrm>
          <a:prstGeom prst="rect">
            <a:avLst/>
          </a:prstGeom>
          <a:noFill/>
        </p:spPr>
        <p:txBody>
          <a:bodyPr wrap="square" anchor="t" lIns="0" rIns="0" tIns="0" bIns="0">
            <a:spAutoFit/>
          </a:bodyPr>
          <a:lstStyle/>
          <a:p>
            <a:pPr algn="l">
              <a:spcAft>
                <a:spcPts val="200"/>
              </a:spcAft>
            </a:pPr>
            <a:r>
              <a:rPr sz="4400" b="1">
                <a:solidFill>
                  <a:srgbClr val="EC5A96"/>
                </a:solidFill>
                <a:latin typeface="Segoe UI"/>
              </a:rPr>
              <a:t>-26%</a:t>
            </a:r>
          </a:p>
          <a:p>
            <a:pPr algn="l">
              <a:spcAft>
                <a:spcPts val="0"/>
              </a:spcAft>
            </a:pPr>
            <a:r>
              <a:rPr sz="1400" b="0">
                <a:solidFill>
                  <a:srgbClr val="2D2A3A"/>
                </a:solidFill>
                <a:latin typeface="Segoe UI"/>
              </a:rPr>
              <a:t>United States in 2009, and it never came back</a:t>
            </a:r>
          </a:p>
        </p:txBody>
      </p:sp>
      <p:sp>
        <p:nvSpPr>
          <p:cNvPr id="15" name="TextBox 14"/>
          <p:cNvSpPr txBox="1"/>
          <p:nvPr/>
        </p:nvSpPr>
        <p:spPr>
          <a:xfrm>
            <a:off x="8503920" y="5120640"/>
            <a:ext cx="3291840" cy="914400"/>
          </a:xfrm>
          <a:prstGeom prst="rect">
            <a:avLst/>
          </a:prstGeom>
          <a:noFill/>
        </p:spPr>
        <p:txBody>
          <a:bodyPr wrap="square" anchor="t" lIns="0" rIns="0" tIns="0" bIns="0">
            <a:spAutoFit/>
          </a:bodyPr>
          <a:lstStyle/>
          <a:p>
            <a:pPr algn="l">
              <a:spcAft>
                <a:spcPts val="0"/>
              </a:spcAft>
            </a:pPr>
            <a:r>
              <a:rPr sz="1400" b="0">
                <a:solidFill>
                  <a:srgbClr val="6B6580"/>
                </a:solidFill>
                <a:latin typeface="Segoe UI"/>
              </a:rPr>
              <a:t>US revenue has stayed near $21.5M a year.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1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3C1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EC5A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almpay logo.png"/>
          <p:cNvPicPr>
            <a:picLocks noChangeAspect="1"/>
          </p:cNvPicPr>
          <p:nvPr/>
        </p:nvPicPr>
        <p:blipFill>
          <a:blip r:embed="rId2"/>
          <a:stretch>
            <a:fillRect/>
          </a:stretch>
        </p:blipFill>
        <p:spPr>
          <a:xfrm>
            <a:off x="411480" y="155448"/>
            <a:ext cx="694944" cy="694944"/>
          </a:xfrm>
          <a:prstGeom prst="rect">
            <a:avLst/>
          </a:prstGeom>
        </p:spPr>
      </p:pic>
      <p:sp>
        <p:nvSpPr>
          <p:cNvPr id="5" name="TextBox 4"/>
          <p:cNvSpPr txBox="1"/>
          <p:nvPr/>
        </p:nvSpPr>
        <p:spPr>
          <a:xfrm>
            <a:off x="1325880" y="137160"/>
            <a:ext cx="10424160" cy="731520"/>
          </a:xfrm>
          <a:prstGeom prst="rect">
            <a:avLst/>
          </a:prstGeom>
          <a:noFill/>
        </p:spPr>
        <p:txBody>
          <a:bodyPr wrap="square" anchor="ctr" lIns="0" rIns="0" tIns="0" bIns="0">
            <a:spAutoFit/>
          </a:bodyPr>
          <a:lstStyle/>
          <a:p>
            <a:pPr algn="l">
              <a:spcAft>
                <a:spcPts val="0"/>
              </a:spcAft>
            </a:pPr>
            <a:r>
              <a:rPr sz="2800" b="1">
                <a:solidFill>
                  <a:srgbClr val="FFFFFF"/>
                </a:solidFill>
                <a:latin typeface="Segoe UI"/>
              </a:rPr>
              <a:t>The 2008 crisis hit the US hardest</a:t>
            </a:r>
          </a:p>
        </p:txBody>
      </p:sp>
      <p:sp>
        <p:nvSpPr>
          <p:cNvPr id="6" name="TextBox 5"/>
          <p:cNvSpPr txBox="1"/>
          <p:nvPr/>
        </p:nvSpPr>
        <p:spPr>
          <a:xfrm>
            <a:off x="457200" y="6492240"/>
            <a:ext cx="5486400" cy="274320"/>
          </a:xfrm>
          <a:prstGeom prst="rect">
            <a:avLst/>
          </a:prstGeom>
          <a:noFill/>
        </p:spPr>
        <p:txBody>
          <a:bodyPr wrap="square" anchor="t" lIns="0" rIns="0" tIns="0" bIns="0">
            <a:spAutoFit/>
          </a:bodyPr>
          <a:lstStyle/>
          <a:p>
            <a:pPr algn="l">
              <a:spcAft>
                <a:spcPts val="0"/>
              </a:spcAft>
            </a:pPr>
            <a:r>
              <a:rPr sz="1000" b="0">
                <a:solidFill>
                  <a:srgbClr val="6B6580"/>
                </a:solidFill>
                <a:latin typeface="Segoe UI"/>
              </a:rPr>
              <a:t>Palmpay sales analysis  |  2007 to 2011</a:t>
            </a:r>
          </a:p>
        </p:txBody>
      </p:sp>
      <p:sp>
        <p:nvSpPr>
          <p:cNvPr id="7" name="TextBox 6"/>
          <p:cNvSpPr txBox="1"/>
          <p:nvPr/>
        </p:nvSpPr>
        <p:spPr>
          <a:xfrm>
            <a:off x="11155680" y="6492240"/>
            <a:ext cx="594360" cy="274320"/>
          </a:xfrm>
          <a:prstGeom prst="rect">
            <a:avLst/>
          </a:prstGeom>
          <a:noFill/>
        </p:spPr>
        <p:txBody>
          <a:bodyPr wrap="square" anchor="t" lIns="0" rIns="0" tIns="0" bIns="0">
            <a:spAutoFit/>
          </a:bodyPr>
          <a:lstStyle/>
          <a:p>
            <a:pPr algn="r">
              <a:spcAft>
                <a:spcPts val="0"/>
              </a:spcAft>
            </a:pPr>
            <a:r>
              <a:rPr sz="1000" b="0">
                <a:solidFill>
                  <a:srgbClr val="6B6580"/>
                </a:solidFill>
                <a:latin typeface="Segoe UI"/>
              </a:rPr>
              <a:t>5</a:t>
            </a:r>
          </a:p>
        </p:txBody>
      </p:sp>
      <p:sp>
        <p:nvSpPr>
          <p:cNvPr id="8" name="Rounded Rectangle 7"/>
          <p:cNvSpPr/>
          <p:nvPr/>
        </p:nvSpPr>
        <p:spPr>
          <a:xfrm>
            <a:off x="457200" y="1325880"/>
            <a:ext cx="7680960" cy="4937760"/>
          </a:xfrm>
          <a:prstGeom prst="roundRect">
            <a:avLst>
              <a:gd name="adj" fmla="val 3000"/>
            </a:avLst>
          </a:prstGeom>
          <a:solidFill>
            <a:srgbClr val="FFFFFF"/>
          </a:solidFill>
          <a:ln w="9525">
            <a:solidFill>
              <a:srgbClr val="E4DD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63040"/>
            <a:ext cx="7132320" cy="365760"/>
          </a:xfrm>
          <a:prstGeom prst="rect">
            <a:avLst/>
          </a:prstGeom>
          <a:noFill/>
        </p:spPr>
        <p:txBody>
          <a:bodyPr wrap="square" anchor="t" lIns="0" rIns="0" tIns="0" bIns="0">
            <a:spAutoFit/>
          </a:bodyPr>
          <a:lstStyle/>
          <a:p>
            <a:pPr algn="l">
              <a:spcAft>
                <a:spcPts val="0"/>
              </a:spcAft>
            </a:pPr>
            <a:r>
              <a:rPr sz="1400" b="1">
                <a:solidFill>
                  <a:srgbClr val="6B6580"/>
                </a:solidFill>
                <a:latin typeface="Segoe UI"/>
              </a:rPr>
              <a:t>Sales against the same month a year earlier, %</a:t>
            </a:r>
          </a:p>
        </p:txBody>
      </p:sp>
      <p:graphicFrame>
        <p:nvGraphicFramePr>
          <p:cNvPr id="10" name="Chart 9"/>
          <p:cNvGraphicFramePr>
            <a:graphicFrameLocks noGrp="1"/>
          </p:cNvGraphicFramePr>
          <p:nvPr/>
        </p:nvGraphicFramePr>
        <p:xfrm>
          <a:off x="640080" y="1828800"/>
          <a:ext cx="7315200" cy="4297680"/>
        </p:xfrm>
        <a:graphic>
          <a:graphicData uri="http://schemas.openxmlformats.org/drawingml/2006/chart">
            <c:chart xmlns:c="http://schemas.openxmlformats.org/drawingml/2006/chart" r:id="rId4"/>
          </a:graphicData>
        </a:graphic>
      </p:graphicFrame>
      <p:sp>
        <p:nvSpPr>
          <p:cNvPr id="11" name="Rectangle 10"/>
          <p:cNvSpPr/>
          <p:nvPr/>
        </p:nvSpPr>
        <p:spPr>
          <a:xfrm>
            <a:off x="8503920" y="1655064"/>
            <a:ext cx="64008" cy="1097280"/>
          </a:xfrm>
          <a:prstGeom prst="rect">
            <a:avLst/>
          </a:prstGeom>
          <a:solidFill>
            <a:srgbClr val="EC5A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32520" y="1600200"/>
            <a:ext cx="3063240" cy="1280160"/>
          </a:xfrm>
          <a:prstGeom prst="rect">
            <a:avLst/>
          </a:prstGeom>
          <a:noFill/>
        </p:spPr>
        <p:txBody>
          <a:bodyPr wrap="square" anchor="t" lIns="0" rIns="0" tIns="0" bIns="0">
            <a:spAutoFit/>
          </a:bodyPr>
          <a:lstStyle/>
          <a:p>
            <a:pPr algn="l">
              <a:spcAft>
                <a:spcPts val="200"/>
              </a:spcAft>
            </a:pPr>
            <a:r>
              <a:rPr sz="4400" b="1">
                <a:solidFill>
                  <a:srgbClr val="EC5A96"/>
                </a:solidFill>
                <a:latin typeface="Segoe UI"/>
              </a:rPr>
              <a:t>-24%</a:t>
            </a:r>
          </a:p>
          <a:p>
            <a:pPr algn="l">
              <a:spcAft>
                <a:spcPts val="0"/>
              </a:spcAft>
            </a:pPr>
            <a:r>
              <a:rPr sz="1400" b="0">
                <a:solidFill>
                  <a:srgbClr val="2D2A3A"/>
                </a:solidFill>
                <a:latin typeface="Segoe UI"/>
              </a:rPr>
              <a:t>all sales, January 2009</a:t>
            </a:r>
          </a:p>
        </p:txBody>
      </p:sp>
      <p:sp>
        <p:nvSpPr>
          <p:cNvPr id="13" name="Rectangle 12"/>
          <p:cNvSpPr/>
          <p:nvPr/>
        </p:nvSpPr>
        <p:spPr>
          <a:xfrm>
            <a:off x="8503920" y="3118104"/>
            <a:ext cx="64008" cy="1097280"/>
          </a:xfrm>
          <a:prstGeom prst="rect">
            <a:avLst/>
          </a:prstGeom>
          <a:solidFill>
            <a:srgbClr val="EC5A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32520" y="3063240"/>
            <a:ext cx="3063240" cy="1280160"/>
          </a:xfrm>
          <a:prstGeom prst="rect">
            <a:avLst/>
          </a:prstGeom>
          <a:noFill/>
        </p:spPr>
        <p:txBody>
          <a:bodyPr wrap="square" anchor="t" lIns="0" rIns="0" tIns="0" bIns="0">
            <a:spAutoFit/>
          </a:bodyPr>
          <a:lstStyle/>
          <a:p>
            <a:pPr algn="l">
              <a:spcAft>
                <a:spcPts val="200"/>
              </a:spcAft>
            </a:pPr>
            <a:r>
              <a:rPr sz="4400" b="1">
                <a:solidFill>
                  <a:srgbClr val="EC5A96"/>
                </a:solidFill>
                <a:latin typeface="Segoe UI"/>
              </a:rPr>
              <a:t>-46%</a:t>
            </a:r>
          </a:p>
          <a:p>
            <a:pPr algn="l">
              <a:spcAft>
                <a:spcPts val="0"/>
              </a:spcAft>
            </a:pPr>
            <a:r>
              <a:rPr sz="1400" b="0">
                <a:solidFill>
                  <a:srgbClr val="2D2A3A"/>
                </a:solidFill>
                <a:latin typeface="Segoe UI"/>
              </a:rPr>
              <a:t>United States, January 2009</a:t>
            </a:r>
          </a:p>
        </p:txBody>
      </p:sp>
      <p:sp>
        <p:nvSpPr>
          <p:cNvPr id="15" name="Rectangle 14"/>
          <p:cNvSpPr/>
          <p:nvPr/>
        </p:nvSpPr>
        <p:spPr>
          <a:xfrm>
            <a:off x="8503920" y="4581144"/>
            <a:ext cx="64008" cy="1097280"/>
          </a:xfrm>
          <a:prstGeom prst="rect">
            <a:avLst/>
          </a:prstGeom>
          <a:solidFill>
            <a:srgbClr val="703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32520" y="4526280"/>
            <a:ext cx="3063240" cy="1280160"/>
          </a:xfrm>
          <a:prstGeom prst="rect">
            <a:avLst/>
          </a:prstGeom>
          <a:noFill/>
        </p:spPr>
        <p:txBody>
          <a:bodyPr wrap="square" anchor="t" lIns="0" rIns="0" tIns="0" bIns="0">
            <a:spAutoFit/>
          </a:bodyPr>
          <a:lstStyle/>
          <a:p>
            <a:pPr algn="l">
              <a:spcAft>
                <a:spcPts val="200"/>
              </a:spcAft>
            </a:pPr>
            <a:r>
              <a:rPr sz="4400" b="1">
                <a:solidFill>
                  <a:srgbClr val="7031C5"/>
                </a:solidFill>
                <a:latin typeface="Segoe UI"/>
              </a:rPr>
              <a:t>-10%</a:t>
            </a:r>
          </a:p>
          <a:p>
            <a:pPr algn="l">
              <a:spcAft>
                <a:spcPts val="0"/>
              </a:spcAft>
            </a:pPr>
            <a:r>
              <a:rPr sz="1400" b="0">
                <a:solidFill>
                  <a:srgbClr val="2D2A3A"/>
                </a:solidFill>
                <a:latin typeface="Segoe UI"/>
              </a:rPr>
              <a:t>Germany, worst month of 2008 and 2009</a:t>
            </a:r>
          </a:p>
        </p:txBody>
      </p:sp>
      <p:sp>
        <p:nvSpPr>
          <p:cNvPr id="17" name="TextBox 16"/>
          <p:cNvSpPr txBox="1"/>
          <p:nvPr/>
        </p:nvSpPr>
        <p:spPr>
          <a:xfrm>
            <a:off x="8503920" y="5989320"/>
            <a:ext cx="3291840" cy="365760"/>
          </a:xfrm>
          <a:prstGeom prst="rect">
            <a:avLst/>
          </a:prstGeom>
          <a:noFill/>
        </p:spPr>
        <p:txBody>
          <a:bodyPr wrap="square" anchor="t" lIns="0" rIns="0" tIns="0" bIns="0">
            <a:spAutoFit/>
          </a:bodyPr>
          <a:lstStyle/>
          <a:p>
            <a:pPr algn="l">
              <a:spcAft>
                <a:spcPts val="0"/>
              </a:spcAft>
            </a:pPr>
            <a:r>
              <a:rPr sz="1200" b="0">
                <a:solidFill>
                  <a:srgbClr val="6B6580"/>
                </a:solidFill>
                <a:latin typeface="Segoe UI"/>
              </a:rPr>
              <a:t>Excludes Silicon Valley Bikes.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1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3C1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EC5A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almpay logo.png"/>
          <p:cNvPicPr>
            <a:picLocks noChangeAspect="1"/>
          </p:cNvPicPr>
          <p:nvPr/>
        </p:nvPicPr>
        <p:blipFill>
          <a:blip r:embed="rId2"/>
          <a:stretch>
            <a:fillRect/>
          </a:stretch>
        </p:blipFill>
        <p:spPr>
          <a:xfrm>
            <a:off x="411480" y="155448"/>
            <a:ext cx="694944" cy="694944"/>
          </a:xfrm>
          <a:prstGeom prst="rect">
            <a:avLst/>
          </a:prstGeom>
        </p:spPr>
      </p:pic>
      <p:sp>
        <p:nvSpPr>
          <p:cNvPr id="5" name="TextBox 4"/>
          <p:cNvSpPr txBox="1"/>
          <p:nvPr/>
        </p:nvSpPr>
        <p:spPr>
          <a:xfrm>
            <a:off x="1325880" y="137160"/>
            <a:ext cx="10424160" cy="731520"/>
          </a:xfrm>
          <a:prstGeom prst="rect">
            <a:avLst/>
          </a:prstGeom>
          <a:noFill/>
        </p:spPr>
        <p:txBody>
          <a:bodyPr wrap="square" anchor="ctr" lIns="0" rIns="0" tIns="0" bIns="0">
            <a:spAutoFit/>
          </a:bodyPr>
          <a:lstStyle/>
          <a:p>
            <a:pPr algn="l">
              <a:spcAft>
                <a:spcPts val="0"/>
              </a:spcAft>
            </a:pPr>
            <a:r>
              <a:rPr sz="2800" b="1">
                <a:solidFill>
                  <a:srgbClr val="FFFFFF"/>
                </a:solidFill>
                <a:latin typeface="Segoe UI"/>
              </a:rPr>
              <a:t>Touring bikes lead every year</a:t>
            </a:r>
          </a:p>
        </p:txBody>
      </p:sp>
      <p:sp>
        <p:nvSpPr>
          <p:cNvPr id="6" name="TextBox 5"/>
          <p:cNvSpPr txBox="1"/>
          <p:nvPr/>
        </p:nvSpPr>
        <p:spPr>
          <a:xfrm>
            <a:off x="457200" y="6492240"/>
            <a:ext cx="5486400" cy="274320"/>
          </a:xfrm>
          <a:prstGeom prst="rect">
            <a:avLst/>
          </a:prstGeom>
          <a:noFill/>
        </p:spPr>
        <p:txBody>
          <a:bodyPr wrap="square" anchor="t" lIns="0" rIns="0" tIns="0" bIns="0">
            <a:spAutoFit/>
          </a:bodyPr>
          <a:lstStyle/>
          <a:p>
            <a:pPr algn="l">
              <a:spcAft>
                <a:spcPts val="0"/>
              </a:spcAft>
            </a:pPr>
            <a:r>
              <a:rPr sz="1000" b="0">
                <a:solidFill>
                  <a:srgbClr val="6B6580"/>
                </a:solidFill>
                <a:latin typeface="Segoe UI"/>
              </a:rPr>
              <a:t>Palmpay sales analysis  |  2007 to 2011</a:t>
            </a:r>
          </a:p>
        </p:txBody>
      </p:sp>
      <p:sp>
        <p:nvSpPr>
          <p:cNvPr id="7" name="TextBox 6"/>
          <p:cNvSpPr txBox="1"/>
          <p:nvPr/>
        </p:nvSpPr>
        <p:spPr>
          <a:xfrm>
            <a:off x="11155680" y="6492240"/>
            <a:ext cx="594360" cy="274320"/>
          </a:xfrm>
          <a:prstGeom prst="rect">
            <a:avLst/>
          </a:prstGeom>
          <a:noFill/>
        </p:spPr>
        <p:txBody>
          <a:bodyPr wrap="square" anchor="t" lIns="0" rIns="0" tIns="0" bIns="0">
            <a:spAutoFit/>
          </a:bodyPr>
          <a:lstStyle/>
          <a:p>
            <a:pPr algn="r">
              <a:spcAft>
                <a:spcPts val="0"/>
              </a:spcAft>
            </a:pPr>
            <a:r>
              <a:rPr sz="1000" b="0">
                <a:solidFill>
                  <a:srgbClr val="6B6580"/>
                </a:solidFill>
                <a:latin typeface="Segoe UI"/>
              </a:rPr>
              <a:t>6</a:t>
            </a:r>
          </a:p>
        </p:txBody>
      </p:sp>
      <p:sp>
        <p:nvSpPr>
          <p:cNvPr id="8" name="Rounded Rectangle 7"/>
          <p:cNvSpPr/>
          <p:nvPr/>
        </p:nvSpPr>
        <p:spPr>
          <a:xfrm>
            <a:off x="457200" y="1325880"/>
            <a:ext cx="7680960" cy="4937760"/>
          </a:xfrm>
          <a:prstGeom prst="roundRect">
            <a:avLst>
              <a:gd name="adj" fmla="val 3000"/>
            </a:avLst>
          </a:prstGeom>
          <a:solidFill>
            <a:srgbClr val="FFFFFF"/>
          </a:solidFill>
          <a:ln w="9525">
            <a:solidFill>
              <a:srgbClr val="E4DD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63040"/>
            <a:ext cx="7132320" cy="365760"/>
          </a:xfrm>
          <a:prstGeom prst="rect">
            <a:avLst/>
          </a:prstGeom>
          <a:noFill/>
        </p:spPr>
        <p:txBody>
          <a:bodyPr wrap="square" anchor="t" lIns="0" rIns="0" tIns="0" bIns="0">
            <a:spAutoFit/>
          </a:bodyPr>
          <a:lstStyle/>
          <a:p>
            <a:pPr algn="l">
              <a:spcAft>
                <a:spcPts val="0"/>
              </a:spcAft>
            </a:pPr>
            <a:r>
              <a:rPr sz="1400" b="1">
                <a:solidFill>
                  <a:srgbClr val="6B6580"/>
                </a:solidFill>
                <a:latin typeface="Segoe UI"/>
              </a:rPr>
              <a:t>Revenue by bike category, $ millions</a:t>
            </a:r>
          </a:p>
        </p:txBody>
      </p:sp>
      <p:graphicFrame>
        <p:nvGraphicFramePr>
          <p:cNvPr id="10" name="Chart 9"/>
          <p:cNvGraphicFramePr>
            <a:graphicFrameLocks noGrp="1"/>
          </p:cNvGraphicFramePr>
          <p:nvPr/>
        </p:nvGraphicFramePr>
        <p:xfrm>
          <a:off x="640080" y="1828800"/>
          <a:ext cx="7315200" cy="4297680"/>
        </p:xfrm>
        <a:graphic>
          <a:graphicData uri="http://schemas.openxmlformats.org/drawingml/2006/chart">
            <c:chart xmlns:c="http://schemas.openxmlformats.org/drawingml/2006/chart" r:id="rId4"/>
          </a:graphicData>
        </a:graphic>
      </p:graphicFrame>
      <p:sp>
        <p:nvSpPr>
          <p:cNvPr id="11" name="Rectangle 10"/>
          <p:cNvSpPr/>
          <p:nvPr/>
        </p:nvSpPr>
        <p:spPr>
          <a:xfrm>
            <a:off x="8503920" y="1883664"/>
            <a:ext cx="64008" cy="1097280"/>
          </a:xfrm>
          <a:prstGeom prst="rect">
            <a:avLst/>
          </a:prstGeom>
          <a:solidFill>
            <a:srgbClr val="703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32520" y="1828800"/>
            <a:ext cx="3063240" cy="1280160"/>
          </a:xfrm>
          <a:prstGeom prst="rect">
            <a:avLst/>
          </a:prstGeom>
          <a:noFill/>
        </p:spPr>
        <p:txBody>
          <a:bodyPr wrap="square" anchor="t" lIns="0" rIns="0" tIns="0" bIns="0">
            <a:spAutoFit/>
          </a:bodyPr>
          <a:lstStyle/>
          <a:p>
            <a:pPr algn="l">
              <a:spcAft>
                <a:spcPts val="200"/>
              </a:spcAft>
            </a:pPr>
            <a:r>
              <a:rPr sz="4400" b="1">
                <a:solidFill>
                  <a:srgbClr val="7031C5"/>
                </a:solidFill>
                <a:latin typeface="Segoe UI"/>
              </a:rPr>
              <a:t>37-40%</a:t>
            </a:r>
          </a:p>
          <a:p>
            <a:pPr algn="l">
              <a:spcAft>
                <a:spcPts val="0"/>
              </a:spcAft>
            </a:pPr>
            <a:r>
              <a:rPr sz="1400" b="0">
                <a:solidFill>
                  <a:srgbClr val="2D2A3A"/>
                </a:solidFill>
                <a:latin typeface="Segoe UI"/>
              </a:rPr>
              <a:t>of all revenue is touring bikes</a:t>
            </a:r>
          </a:p>
        </p:txBody>
      </p:sp>
      <p:sp>
        <p:nvSpPr>
          <p:cNvPr id="13" name="Rectangle 12"/>
          <p:cNvSpPr/>
          <p:nvPr/>
        </p:nvSpPr>
        <p:spPr>
          <a:xfrm>
            <a:off x="8503920" y="3621024"/>
            <a:ext cx="64008" cy="1097280"/>
          </a:xfrm>
          <a:prstGeom prst="rect">
            <a:avLst/>
          </a:prstGeom>
          <a:solidFill>
            <a:srgbClr val="703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32520" y="3566160"/>
            <a:ext cx="3063240" cy="1280160"/>
          </a:xfrm>
          <a:prstGeom prst="rect">
            <a:avLst/>
          </a:prstGeom>
          <a:noFill/>
        </p:spPr>
        <p:txBody>
          <a:bodyPr wrap="square" anchor="t" lIns="0" rIns="0" tIns="0" bIns="0">
            <a:spAutoFit/>
          </a:bodyPr>
          <a:lstStyle/>
          <a:p>
            <a:pPr algn="l">
              <a:spcAft>
                <a:spcPts val="200"/>
              </a:spcAft>
            </a:pPr>
            <a:r>
              <a:rPr sz="4000" b="1">
                <a:solidFill>
                  <a:srgbClr val="7031C5"/>
                </a:solidFill>
                <a:latin typeface="Segoe UI"/>
              </a:rPr>
              <a:t>$21-24M</a:t>
            </a:r>
          </a:p>
          <a:p>
            <a:pPr algn="l">
              <a:spcAft>
                <a:spcPts val="0"/>
              </a:spcAft>
            </a:pPr>
            <a:r>
              <a:rPr sz="1400" b="0">
                <a:solidFill>
                  <a:srgbClr val="2D2A3A"/>
                </a:solidFill>
                <a:latin typeface="Segoe UI"/>
              </a:rPr>
              <a:t>a year, the top category in all five years</a:t>
            </a:r>
          </a:p>
        </p:txBody>
      </p:sp>
      <p:sp>
        <p:nvSpPr>
          <p:cNvPr id="15" name="TextBox 14"/>
          <p:cNvSpPr txBox="1"/>
          <p:nvPr/>
        </p:nvSpPr>
        <p:spPr>
          <a:xfrm>
            <a:off x="8503920" y="5303520"/>
            <a:ext cx="3291840" cy="731520"/>
          </a:xfrm>
          <a:prstGeom prst="rect">
            <a:avLst/>
          </a:prstGeom>
          <a:noFill/>
        </p:spPr>
        <p:txBody>
          <a:bodyPr wrap="square" anchor="t" lIns="0" rIns="0" tIns="0" bIns="0">
            <a:spAutoFit/>
          </a:bodyPr>
          <a:lstStyle/>
          <a:p>
            <a:pPr algn="l">
              <a:spcAft>
                <a:spcPts val="0"/>
              </a:spcAft>
            </a:pPr>
            <a:r>
              <a:rPr sz="1400" b="0">
                <a:solidFill>
                  <a:srgbClr val="6B6580"/>
                </a:solidFill>
                <a:latin typeface="Segoe UI"/>
              </a:rPr>
              <a:t>Road and off-road bikes follow close behind.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1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3C1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EC5A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almpay logo.png"/>
          <p:cNvPicPr>
            <a:picLocks noChangeAspect="1"/>
          </p:cNvPicPr>
          <p:nvPr/>
        </p:nvPicPr>
        <p:blipFill>
          <a:blip r:embed="rId2"/>
          <a:stretch>
            <a:fillRect/>
          </a:stretch>
        </p:blipFill>
        <p:spPr>
          <a:xfrm>
            <a:off x="411480" y="155448"/>
            <a:ext cx="694944" cy="694944"/>
          </a:xfrm>
          <a:prstGeom prst="rect">
            <a:avLst/>
          </a:prstGeom>
        </p:spPr>
      </p:pic>
      <p:sp>
        <p:nvSpPr>
          <p:cNvPr id="5" name="TextBox 4"/>
          <p:cNvSpPr txBox="1"/>
          <p:nvPr/>
        </p:nvSpPr>
        <p:spPr>
          <a:xfrm>
            <a:off x="1325880" y="137160"/>
            <a:ext cx="10424160" cy="731520"/>
          </a:xfrm>
          <a:prstGeom prst="rect">
            <a:avLst/>
          </a:prstGeom>
          <a:noFill/>
        </p:spPr>
        <p:txBody>
          <a:bodyPr wrap="square" anchor="ctr" lIns="0" rIns="0" tIns="0" bIns="0">
            <a:spAutoFit/>
          </a:bodyPr>
          <a:lstStyle/>
          <a:p>
            <a:pPr algn="l">
              <a:spcAft>
                <a:spcPts val="0"/>
              </a:spcAft>
            </a:pPr>
            <a:r>
              <a:rPr sz="2800" b="1">
                <a:solidFill>
                  <a:srgbClr val="FFFFFF"/>
                </a:solidFill>
                <a:latin typeface="Segoe UI"/>
              </a:rPr>
              <a:t>The flop: Fixed Gear Bike Plus</a:t>
            </a:r>
          </a:p>
        </p:txBody>
      </p:sp>
      <p:sp>
        <p:nvSpPr>
          <p:cNvPr id="6" name="TextBox 5"/>
          <p:cNvSpPr txBox="1"/>
          <p:nvPr/>
        </p:nvSpPr>
        <p:spPr>
          <a:xfrm>
            <a:off x="457200" y="6492240"/>
            <a:ext cx="5486400" cy="274320"/>
          </a:xfrm>
          <a:prstGeom prst="rect">
            <a:avLst/>
          </a:prstGeom>
          <a:noFill/>
        </p:spPr>
        <p:txBody>
          <a:bodyPr wrap="square" anchor="t" lIns="0" rIns="0" tIns="0" bIns="0">
            <a:spAutoFit/>
          </a:bodyPr>
          <a:lstStyle/>
          <a:p>
            <a:pPr algn="l">
              <a:spcAft>
                <a:spcPts val="0"/>
              </a:spcAft>
            </a:pPr>
            <a:r>
              <a:rPr sz="1000" b="0">
                <a:solidFill>
                  <a:srgbClr val="6B6580"/>
                </a:solidFill>
                <a:latin typeface="Segoe UI"/>
              </a:rPr>
              <a:t>Palmpay sales analysis  |  2007 to 2011</a:t>
            </a:r>
          </a:p>
        </p:txBody>
      </p:sp>
      <p:sp>
        <p:nvSpPr>
          <p:cNvPr id="7" name="TextBox 6"/>
          <p:cNvSpPr txBox="1"/>
          <p:nvPr/>
        </p:nvSpPr>
        <p:spPr>
          <a:xfrm>
            <a:off x="11155680" y="6492240"/>
            <a:ext cx="594360" cy="274320"/>
          </a:xfrm>
          <a:prstGeom prst="rect">
            <a:avLst/>
          </a:prstGeom>
          <a:noFill/>
        </p:spPr>
        <p:txBody>
          <a:bodyPr wrap="square" anchor="t" lIns="0" rIns="0" tIns="0" bIns="0">
            <a:spAutoFit/>
          </a:bodyPr>
          <a:lstStyle/>
          <a:p>
            <a:pPr algn="r">
              <a:spcAft>
                <a:spcPts val="0"/>
              </a:spcAft>
            </a:pPr>
            <a:r>
              <a:rPr sz="1000" b="0">
                <a:solidFill>
                  <a:srgbClr val="6B6580"/>
                </a:solidFill>
                <a:latin typeface="Segoe UI"/>
              </a:rPr>
              <a:t>7</a:t>
            </a:r>
          </a:p>
        </p:txBody>
      </p:sp>
      <p:sp>
        <p:nvSpPr>
          <p:cNvPr id="8" name="Rounded Rectangle 7"/>
          <p:cNvSpPr/>
          <p:nvPr/>
        </p:nvSpPr>
        <p:spPr>
          <a:xfrm>
            <a:off x="457200" y="1325880"/>
            <a:ext cx="7680960" cy="4937760"/>
          </a:xfrm>
          <a:prstGeom prst="roundRect">
            <a:avLst>
              <a:gd name="adj" fmla="val 3000"/>
            </a:avLst>
          </a:prstGeom>
          <a:solidFill>
            <a:srgbClr val="FFFFFF"/>
          </a:solidFill>
          <a:ln w="9525">
            <a:solidFill>
              <a:srgbClr val="E4DD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63040"/>
            <a:ext cx="7132320" cy="365760"/>
          </a:xfrm>
          <a:prstGeom prst="rect">
            <a:avLst/>
          </a:prstGeom>
          <a:noFill/>
        </p:spPr>
        <p:txBody>
          <a:bodyPr wrap="square" anchor="t" lIns="0" rIns="0" tIns="0" bIns="0">
            <a:spAutoFit/>
          </a:bodyPr>
          <a:lstStyle/>
          <a:p>
            <a:pPr algn="l">
              <a:spcAft>
                <a:spcPts val="0"/>
              </a:spcAft>
            </a:pPr>
            <a:r>
              <a:rPr sz="1400" b="1">
                <a:solidFill>
                  <a:srgbClr val="6B6580"/>
                </a:solidFill>
                <a:latin typeface="Segoe UI"/>
              </a:rPr>
              <a:t>Units sold per year</a:t>
            </a:r>
          </a:p>
        </p:txBody>
      </p:sp>
      <p:graphicFrame>
        <p:nvGraphicFramePr>
          <p:cNvPr id="10" name="Chart 9"/>
          <p:cNvGraphicFramePr>
            <a:graphicFrameLocks noGrp="1"/>
          </p:cNvGraphicFramePr>
          <p:nvPr/>
        </p:nvGraphicFramePr>
        <p:xfrm>
          <a:off x="640080" y="1828800"/>
          <a:ext cx="7315200" cy="4297680"/>
        </p:xfrm>
        <a:graphic>
          <a:graphicData uri="http://schemas.openxmlformats.org/drawingml/2006/chart">
            <c:chart xmlns:c="http://schemas.openxmlformats.org/drawingml/2006/chart" r:id="rId4"/>
          </a:graphicData>
        </a:graphic>
      </p:graphicFrame>
      <p:sp>
        <p:nvSpPr>
          <p:cNvPr id="11" name="Rectangle 10"/>
          <p:cNvSpPr/>
          <p:nvPr/>
        </p:nvSpPr>
        <p:spPr>
          <a:xfrm>
            <a:off x="8503920" y="1883664"/>
            <a:ext cx="64008" cy="1097280"/>
          </a:xfrm>
          <a:prstGeom prst="rect">
            <a:avLst/>
          </a:prstGeom>
          <a:solidFill>
            <a:srgbClr val="EC5A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32520" y="1828800"/>
            <a:ext cx="3063240" cy="1280160"/>
          </a:xfrm>
          <a:prstGeom prst="rect">
            <a:avLst/>
          </a:prstGeom>
          <a:noFill/>
        </p:spPr>
        <p:txBody>
          <a:bodyPr wrap="square" anchor="t" lIns="0" rIns="0" tIns="0" bIns="0">
            <a:spAutoFit/>
          </a:bodyPr>
          <a:lstStyle/>
          <a:p>
            <a:pPr algn="l">
              <a:spcAft>
                <a:spcPts val="200"/>
              </a:spcAft>
            </a:pPr>
            <a:r>
              <a:rPr sz="4400" b="1">
                <a:solidFill>
                  <a:srgbClr val="EC5A96"/>
                </a:solidFill>
                <a:latin typeface="Segoe UI"/>
              </a:rPr>
              <a:t>72 units</a:t>
            </a:r>
          </a:p>
          <a:p>
            <a:pPr algn="l">
              <a:spcAft>
                <a:spcPts val="0"/>
              </a:spcAft>
            </a:pPr>
            <a:r>
              <a:rPr sz="1400" b="0">
                <a:solidFill>
                  <a:srgbClr val="2D2A3A"/>
                </a:solidFill>
                <a:latin typeface="Segoe UI"/>
              </a:rPr>
              <a:t>in five years</a:t>
            </a:r>
          </a:p>
        </p:txBody>
      </p:sp>
      <p:sp>
        <p:nvSpPr>
          <p:cNvPr id="13" name="Rectangle 12"/>
          <p:cNvSpPr/>
          <p:nvPr/>
        </p:nvSpPr>
        <p:spPr>
          <a:xfrm>
            <a:off x="8503920" y="3621024"/>
            <a:ext cx="64008" cy="1097280"/>
          </a:xfrm>
          <a:prstGeom prst="rect">
            <a:avLst/>
          </a:prstGeom>
          <a:solidFill>
            <a:srgbClr val="2D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32520" y="3566160"/>
            <a:ext cx="3063240" cy="1280160"/>
          </a:xfrm>
          <a:prstGeom prst="rect">
            <a:avLst/>
          </a:prstGeom>
          <a:noFill/>
        </p:spPr>
        <p:txBody>
          <a:bodyPr wrap="square" anchor="t" lIns="0" rIns="0" tIns="0" bIns="0">
            <a:spAutoFit/>
          </a:bodyPr>
          <a:lstStyle/>
          <a:p>
            <a:pPr algn="l">
              <a:spcAft>
                <a:spcPts val="200"/>
              </a:spcAft>
            </a:pPr>
            <a:r>
              <a:rPr sz="4000" b="1">
                <a:solidFill>
                  <a:srgbClr val="2D2A3A"/>
                </a:solidFill>
                <a:latin typeface="Segoe UI"/>
              </a:rPr>
              <a:t>59-96</a:t>
            </a:r>
          </a:p>
          <a:p>
            <a:pPr algn="l">
              <a:spcAft>
                <a:spcPts val="0"/>
              </a:spcAft>
            </a:pPr>
            <a:r>
              <a:rPr sz="1400" b="0">
                <a:solidFill>
                  <a:srgbClr val="2D2A3A"/>
                </a:solidFill>
                <a:latin typeface="Segoe UI"/>
              </a:rPr>
              <a:t>units a year for the next slowest, the City Bike Max</a:t>
            </a:r>
          </a:p>
        </p:txBody>
      </p:sp>
      <p:sp>
        <p:nvSpPr>
          <p:cNvPr id="15" name="TextBox 14"/>
          <p:cNvSpPr txBox="1"/>
          <p:nvPr/>
        </p:nvSpPr>
        <p:spPr>
          <a:xfrm>
            <a:off x="8503920" y="5303520"/>
            <a:ext cx="3291840" cy="731520"/>
          </a:xfrm>
          <a:prstGeom prst="rect">
            <a:avLst/>
          </a:prstGeom>
          <a:noFill/>
        </p:spPr>
        <p:txBody>
          <a:bodyPr wrap="square" anchor="t" lIns="0" rIns="0" tIns="0" bIns="0">
            <a:spAutoFit/>
          </a:bodyPr>
          <a:lstStyle/>
          <a:p>
            <a:pPr algn="l">
              <a:spcAft>
                <a:spcPts val="0"/>
              </a:spcAft>
            </a:pPr>
            <a:r>
              <a:rPr sz="1400" b="0">
                <a:solidFill>
                  <a:srgbClr val="6B6580"/>
                </a:solidFill>
                <a:latin typeface="Segoe UI"/>
              </a:rPr>
              <a:t>Fewest sales in every year.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1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3C1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EC5A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almpay logo.png"/>
          <p:cNvPicPr>
            <a:picLocks noChangeAspect="1"/>
          </p:cNvPicPr>
          <p:nvPr/>
        </p:nvPicPr>
        <p:blipFill>
          <a:blip r:embed="rId2"/>
          <a:stretch>
            <a:fillRect/>
          </a:stretch>
        </p:blipFill>
        <p:spPr>
          <a:xfrm>
            <a:off x="411480" y="155448"/>
            <a:ext cx="694944" cy="694944"/>
          </a:xfrm>
          <a:prstGeom prst="rect">
            <a:avLst/>
          </a:prstGeom>
        </p:spPr>
      </p:pic>
      <p:sp>
        <p:nvSpPr>
          <p:cNvPr id="5" name="TextBox 4"/>
          <p:cNvSpPr txBox="1"/>
          <p:nvPr/>
        </p:nvSpPr>
        <p:spPr>
          <a:xfrm>
            <a:off x="1325880" y="137160"/>
            <a:ext cx="10424160" cy="731520"/>
          </a:xfrm>
          <a:prstGeom prst="rect">
            <a:avLst/>
          </a:prstGeom>
          <a:noFill/>
        </p:spPr>
        <p:txBody>
          <a:bodyPr wrap="square" anchor="ctr" lIns="0" rIns="0" tIns="0" bIns="0">
            <a:spAutoFit/>
          </a:bodyPr>
          <a:lstStyle/>
          <a:p>
            <a:pPr algn="l">
              <a:spcAft>
                <a:spcPts val="0"/>
              </a:spcAft>
            </a:pPr>
            <a:r>
              <a:rPr sz="2800" b="1">
                <a:solidFill>
                  <a:srgbClr val="FFFFFF"/>
                </a:solidFill>
                <a:latin typeface="Segoe UI"/>
              </a:rPr>
              <a:t>Off-road bikes: three cities stand out</a:t>
            </a:r>
          </a:p>
        </p:txBody>
      </p:sp>
      <p:sp>
        <p:nvSpPr>
          <p:cNvPr id="6" name="TextBox 5"/>
          <p:cNvSpPr txBox="1"/>
          <p:nvPr/>
        </p:nvSpPr>
        <p:spPr>
          <a:xfrm>
            <a:off x="457200" y="6492240"/>
            <a:ext cx="5486400" cy="274320"/>
          </a:xfrm>
          <a:prstGeom prst="rect">
            <a:avLst/>
          </a:prstGeom>
          <a:noFill/>
        </p:spPr>
        <p:txBody>
          <a:bodyPr wrap="square" anchor="t" lIns="0" rIns="0" tIns="0" bIns="0">
            <a:spAutoFit/>
          </a:bodyPr>
          <a:lstStyle/>
          <a:p>
            <a:pPr algn="l">
              <a:spcAft>
                <a:spcPts val="0"/>
              </a:spcAft>
            </a:pPr>
            <a:r>
              <a:rPr sz="1000" b="0">
                <a:solidFill>
                  <a:srgbClr val="6B6580"/>
                </a:solidFill>
                <a:latin typeface="Segoe UI"/>
              </a:rPr>
              <a:t>Palmpay sales analysis  |  2007 to 2011</a:t>
            </a:r>
          </a:p>
        </p:txBody>
      </p:sp>
      <p:sp>
        <p:nvSpPr>
          <p:cNvPr id="7" name="TextBox 6"/>
          <p:cNvSpPr txBox="1"/>
          <p:nvPr/>
        </p:nvSpPr>
        <p:spPr>
          <a:xfrm>
            <a:off x="11155680" y="6492240"/>
            <a:ext cx="594360" cy="274320"/>
          </a:xfrm>
          <a:prstGeom prst="rect">
            <a:avLst/>
          </a:prstGeom>
          <a:noFill/>
        </p:spPr>
        <p:txBody>
          <a:bodyPr wrap="square" anchor="t" lIns="0" rIns="0" tIns="0" bIns="0">
            <a:spAutoFit/>
          </a:bodyPr>
          <a:lstStyle/>
          <a:p>
            <a:pPr algn="r">
              <a:spcAft>
                <a:spcPts val="0"/>
              </a:spcAft>
            </a:pPr>
            <a:r>
              <a:rPr sz="1000" b="0">
                <a:solidFill>
                  <a:srgbClr val="6B6580"/>
                </a:solidFill>
                <a:latin typeface="Segoe UI"/>
              </a:rPr>
              <a:t>8</a:t>
            </a:r>
          </a:p>
        </p:txBody>
      </p:sp>
      <p:sp>
        <p:nvSpPr>
          <p:cNvPr id="8" name="Rounded Rectangle 7"/>
          <p:cNvSpPr/>
          <p:nvPr/>
        </p:nvSpPr>
        <p:spPr>
          <a:xfrm>
            <a:off x="457200" y="1325880"/>
            <a:ext cx="7680960" cy="4937760"/>
          </a:xfrm>
          <a:prstGeom prst="roundRect">
            <a:avLst>
              <a:gd name="adj" fmla="val 3000"/>
            </a:avLst>
          </a:prstGeom>
          <a:solidFill>
            <a:srgbClr val="FFFFFF"/>
          </a:solidFill>
          <a:ln w="9525">
            <a:solidFill>
              <a:srgbClr val="E4DD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63040"/>
            <a:ext cx="7132320" cy="365760"/>
          </a:xfrm>
          <a:prstGeom prst="rect">
            <a:avLst/>
          </a:prstGeom>
          <a:noFill/>
        </p:spPr>
        <p:txBody>
          <a:bodyPr wrap="square" anchor="t" lIns="0" rIns="0" tIns="0" bIns="0">
            <a:spAutoFit/>
          </a:bodyPr>
          <a:lstStyle/>
          <a:p>
            <a:pPr algn="l">
              <a:spcAft>
                <a:spcPts val="0"/>
              </a:spcAft>
            </a:pPr>
            <a:r>
              <a:rPr sz="1400" b="1">
                <a:solidFill>
                  <a:srgbClr val="6B6580"/>
                </a:solidFill>
                <a:latin typeface="Segoe UI"/>
              </a:rPr>
              <a:t>Off-road share of bicycle units, 2011, %</a:t>
            </a:r>
          </a:p>
        </p:txBody>
      </p:sp>
      <p:graphicFrame>
        <p:nvGraphicFramePr>
          <p:cNvPr id="10" name="Chart 9"/>
          <p:cNvGraphicFramePr>
            <a:graphicFrameLocks noGrp="1"/>
          </p:cNvGraphicFramePr>
          <p:nvPr/>
        </p:nvGraphicFramePr>
        <p:xfrm>
          <a:off x="640080" y="1828800"/>
          <a:ext cx="7315200" cy="4297680"/>
        </p:xfrm>
        <a:graphic>
          <a:graphicData uri="http://schemas.openxmlformats.org/drawingml/2006/chart">
            <c:chart xmlns:c="http://schemas.openxmlformats.org/drawingml/2006/chart" r:id="rId4"/>
          </a:graphicData>
        </a:graphic>
      </p:graphicFrame>
      <p:sp>
        <p:nvSpPr>
          <p:cNvPr id="11" name="Rectangle 10"/>
          <p:cNvSpPr/>
          <p:nvPr/>
        </p:nvSpPr>
        <p:spPr>
          <a:xfrm>
            <a:off x="8503920" y="1883664"/>
            <a:ext cx="64008" cy="1097280"/>
          </a:xfrm>
          <a:prstGeom prst="rect">
            <a:avLst/>
          </a:prstGeom>
          <a:solidFill>
            <a:srgbClr val="703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32520" y="1828800"/>
            <a:ext cx="3063240" cy="1280160"/>
          </a:xfrm>
          <a:prstGeom prst="rect">
            <a:avLst/>
          </a:prstGeom>
          <a:noFill/>
        </p:spPr>
        <p:txBody>
          <a:bodyPr wrap="square" anchor="t" lIns="0" rIns="0" tIns="0" bIns="0">
            <a:spAutoFit/>
          </a:bodyPr>
          <a:lstStyle/>
          <a:p>
            <a:pPr algn="l">
              <a:spcAft>
                <a:spcPts val="200"/>
              </a:spcAft>
            </a:pPr>
            <a:r>
              <a:rPr sz="4400" b="1">
                <a:solidFill>
                  <a:srgbClr val="7031C5"/>
                </a:solidFill>
                <a:latin typeface="Segoe UI"/>
              </a:rPr>
              <a:t>37.5%</a:t>
            </a:r>
          </a:p>
          <a:p>
            <a:pPr algn="l">
              <a:spcAft>
                <a:spcPts val="0"/>
              </a:spcAft>
            </a:pPr>
            <a:r>
              <a:rPr sz="1400" b="0">
                <a:solidFill>
                  <a:srgbClr val="2D2A3A"/>
                </a:solidFill>
                <a:latin typeface="Segoe UI"/>
              </a:rPr>
              <a:t>of 2011 bicycles were off-road</a:t>
            </a:r>
          </a:p>
        </p:txBody>
      </p:sp>
      <p:sp>
        <p:nvSpPr>
          <p:cNvPr id="13" name="Rectangle 12"/>
          <p:cNvSpPr/>
          <p:nvPr/>
        </p:nvSpPr>
        <p:spPr>
          <a:xfrm>
            <a:off x="8503920" y="3621024"/>
            <a:ext cx="64008" cy="1097280"/>
          </a:xfrm>
          <a:prstGeom prst="rect">
            <a:avLst/>
          </a:prstGeom>
          <a:solidFill>
            <a:srgbClr val="2D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32520" y="3566160"/>
            <a:ext cx="3063240" cy="1280160"/>
          </a:xfrm>
          <a:prstGeom prst="rect">
            <a:avLst/>
          </a:prstGeom>
          <a:noFill/>
        </p:spPr>
        <p:txBody>
          <a:bodyPr wrap="square" anchor="t" lIns="0" rIns="0" tIns="0" bIns="0">
            <a:spAutoFit/>
          </a:bodyPr>
          <a:lstStyle/>
          <a:p>
            <a:pPr algn="l">
              <a:spcAft>
                <a:spcPts val="200"/>
              </a:spcAft>
            </a:pPr>
            <a:r>
              <a:rPr sz="4400" b="1">
                <a:solidFill>
                  <a:srgbClr val="2D2A3A"/>
                </a:solidFill>
                <a:latin typeface="Segoe UI"/>
              </a:rPr>
              <a:t>36.9%</a:t>
            </a:r>
          </a:p>
          <a:p>
            <a:pPr algn="l">
              <a:spcAft>
                <a:spcPts val="0"/>
              </a:spcAft>
            </a:pPr>
            <a:r>
              <a:rPr sz="1400" b="0">
                <a:solidFill>
                  <a:srgbClr val="2D2A3A"/>
                </a:solidFill>
                <a:latin typeface="Segoe UI"/>
              </a:rPr>
              <a:t>average across cities</a:t>
            </a:r>
          </a:p>
        </p:txBody>
      </p:sp>
      <p:sp>
        <p:nvSpPr>
          <p:cNvPr id="15" name="TextBox 14"/>
          <p:cNvSpPr txBox="1"/>
          <p:nvPr/>
        </p:nvSpPr>
        <p:spPr>
          <a:xfrm>
            <a:off x="8503920" y="5303520"/>
            <a:ext cx="3291840" cy="731520"/>
          </a:xfrm>
          <a:prstGeom prst="rect">
            <a:avLst/>
          </a:prstGeom>
          <a:noFill/>
        </p:spPr>
        <p:txBody>
          <a:bodyPr wrap="square" anchor="t" lIns="0" rIns="0" tIns="0" bIns="0">
            <a:spAutoFit/>
          </a:bodyPr>
          <a:lstStyle/>
          <a:p>
            <a:pPr algn="l">
              <a:spcAft>
                <a:spcPts val="0"/>
              </a:spcAft>
            </a:pPr>
            <a:r>
              <a:rPr sz="1400" b="0">
                <a:solidFill>
                  <a:srgbClr val="6B6580"/>
                </a:solidFill>
                <a:latin typeface="Segoe UI"/>
              </a:rPr>
              <a:t>Send off-road stock to München, Denver and Irvine first.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1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3C1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EC5A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almpay logo.png"/>
          <p:cNvPicPr>
            <a:picLocks noChangeAspect="1"/>
          </p:cNvPicPr>
          <p:nvPr/>
        </p:nvPicPr>
        <p:blipFill>
          <a:blip r:embed="rId2"/>
          <a:stretch>
            <a:fillRect/>
          </a:stretch>
        </p:blipFill>
        <p:spPr>
          <a:xfrm>
            <a:off x="411480" y="155448"/>
            <a:ext cx="694944" cy="694944"/>
          </a:xfrm>
          <a:prstGeom prst="rect">
            <a:avLst/>
          </a:prstGeom>
        </p:spPr>
      </p:pic>
      <p:sp>
        <p:nvSpPr>
          <p:cNvPr id="5" name="TextBox 4"/>
          <p:cNvSpPr txBox="1"/>
          <p:nvPr/>
        </p:nvSpPr>
        <p:spPr>
          <a:xfrm>
            <a:off x="1325880" y="137160"/>
            <a:ext cx="10424160" cy="731520"/>
          </a:xfrm>
          <a:prstGeom prst="rect">
            <a:avLst/>
          </a:prstGeom>
          <a:noFill/>
        </p:spPr>
        <p:txBody>
          <a:bodyPr wrap="square" anchor="ctr" lIns="0" rIns="0" tIns="0" bIns="0">
            <a:spAutoFit/>
          </a:bodyPr>
          <a:lstStyle/>
          <a:p>
            <a:pPr algn="l">
              <a:spcAft>
                <a:spcPts val="0"/>
              </a:spcAft>
            </a:pPr>
            <a:r>
              <a:rPr sz="2800" b="1">
                <a:solidFill>
                  <a:srgbClr val="FFFFFF"/>
                </a:solidFill>
                <a:latin typeface="Segoe UI"/>
              </a:rPr>
              <a:t>More than half of revenue comes in spring</a:t>
            </a:r>
          </a:p>
        </p:txBody>
      </p:sp>
      <p:sp>
        <p:nvSpPr>
          <p:cNvPr id="6" name="TextBox 5"/>
          <p:cNvSpPr txBox="1"/>
          <p:nvPr/>
        </p:nvSpPr>
        <p:spPr>
          <a:xfrm>
            <a:off x="457200" y="6492240"/>
            <a:ext cx="5486400" cy="274320"/>
          </a:xfrm>
          <a:prstGeom prst="rect">
            <a:avLst/>
          </a:prstGeom>
          <a:noFill/>
        </p:spPr>
        <p:txBody>
          <a:bodyPr wrap="square" anchor="t" lIns="0" rIns="0" tIns="0" bIns="0">
            <a:spAutoFit/>
          </a:bodyPr>
          <a:lstStyle/>
          <a:p>
            <a:pPr algn="l">
              <a:spcAft>
                <a:spcPts val="0"/>
              </a:spcAft>
            </a:pPr>
            <a:r>
              <a:rPr sz="1000" b="0">
                <a:solidFill>
                  <a:srgbClr val="6B6580"/>
                </a:solidFill>
                <a:latin typeface="Segoe UI"/>
              </a:rPr>
              <a:t>Palmpay sales analysis  |  2007 to 2011</a:t>
            </a:r>
          </a:p>
        </p:txBody>
      </p:sp>
      <p:sp>
        <p:nvSpPr>
          <p:cNvPr id="7" name="TextBox 6"/>
          <p:cNvSpPr txBox="1"/>
          <p:nvPr/>
        </p:nvSpPr>
        <p:spPr>
          <a:xfrm>
            <a:off x="11155680" y="6492240"/>
            <a:ext cx="594360" cy="274320"/>
          </a:xfrm>
          <a:prstGeom prst="rect">
            <a:avLst/>
          </a:prstGeom>
          <a:noFill/>
        </p:spPr>
        <p:txBody>
          <a:bodyPr wrap="square" anchor="t" lIns="0" rIns="0" tIns="0" bIns="0">
            <a:spAutoFit/>
          </a:bodyPr>
          <a:lstStyle/>
          <a:p>
            <a:pPr algn="r">
              <a:spcAft>
                <a:spcPts val="0"/>
              </a:spcAft>
            </a:pPr>
            <a:r>
              <a:rPr sz="1000" b="0">
                <a:solidFill>
                  <a:srgbClr val="6B6580"/>
                </a:solidFill>
                <a:latin typeface="Segoe UI"/>
              </a:rPr>
              <a:t>9</a:t>
            </a:r>
          </a:p>
        </p:txBody>
      </p:sp>
      <p:sp>
        <p:nvSpPr>
          <p:cNvPr id="8" name="Rounded Rectangle 7"/>
          <p:cNvSpPr/>
          <p:nvPr/>
        </p:nvSpPr>
        <p:spPr>
          <a:xfrm>
            <a:off x="457200" y="1325880"/>
            <a:ext cx="7680960" cy="4937760"/>
          </a:xfrm>
          <a:prstGeom prst="roundRect">
            <a:avLst>
              <a:gd name="adj" fmla="val 3000"/>
            </a:avLst>
          </a:prstGeom>
          <a:solidFill>
            <a:srgbClr val="FFFFFF"/>
          </a:solidFill>
          <a:ln w="9525">
            <a:solidFill>
              <a:srgbClr val="E4DD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63040"/>
            <a:ext cx="7132320" cy="365760"/>
          </a:xfrm>
          <a:prstGeom prst="rect">
            <a:avLst/>
          </a:prstGeom>
          <a:noFill/>
        </p:spPr>
        <p:txBody>
          <a:bodyPr wrap="square" anchor="t" lIns="0" rIns="0" tIns="0" bIns="0">
            <a:spAutoFit/>
          </a:bodyPr>
          <a:lstStyle/>
          <a:p>
            <a:pPr algn="l">
              <a:spcAft>
                <a:spcPts val="0"/>
              </a:spcAft>
            </a:pPr>
            <a:r>
              <a:rPr sz="1400" b="1">
                <a:solidFill>
                  <a:srgbClr val="6B6580"/>
                </a:solidFill>
                <a:latin typeface="Segoe UI"/>
              </a:rPr>
              <a:t>Share of five-year revenue by month, %</a:t>
            </a:r>
          </a:p>
        </p:txBody>
      </p:sp>
      <p:graphicFrame>
        <p:nvGraphicFramePr>
          <p:cNvPr id="10" name="Chart 9"/>
          <p:cNvGraphicFramePr>
            <a:graphicFrameLocks noGrp="1"/>
          </p:cNvGraphicFramePr>
          <p:nvPr/>
        </p:nvGraphicFramePr>
        <p:xfrm>
          <a:off x="640080" y="1828800"/>
          <a:ext cx="7315200" cy="4297680"/>
        </p:xfrm>
        <a:graphic>
          <a:graphicData uri="http://schemas.openxmlformats.org/drawingml/2006/chart">
            <c:chart xmlns:c="http://schemas.openxmlformats.org/drawingml/2006/chart" r:id="rId4"/>
          </a:graphicData>
        </a:graphic>
      </p:graphicFrame>
      <p:sp>
        <p:nvSpPr>
          <p:cNvPr id="11" name="Rectangle 10"/>
          <p:cNvSpPr/>
          <p:nvPr/>
        </p:nvSpPr>
        <p:spPr>
          <a:xfrm>
            <a:off x="8503920" y="1883664"/>
            <a:ext cx="64008" cy="1097280"/>
          </a:xfrm>
          <a:prstGeom prst="rect">
            <a:avLst/>
          </a:prstGeom>
          <a:solidFill>
            <a:srgbClr val="EC5A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32520" y="1828800"/>
            <a:ext cx="3063240" cy="1280160"/>
          </a:xfrm>
          <a:prstGeom prst="rect">
            <a:avLst/>
          </a:prstGeom>
          <a:noFill/>
        </p:spPr>
        <p:txBody>
          <a:bodyPr wrap="square" anchor="t" lIns="0" rIns="0" tIns="0" bIns="0">
            <a:spAutoFit/>
          </a:bodyPr>
          <a:lstStyle/>
          <a:p>
            <a:pPr algn="l">
              <a:spcAft>
                <a:spcPts val="200"/>
              </a:spcAft>
            </a:pPr>
            <a:r>
              <a:rPr sz="4400" b="1">
                <a:solidFill>
                  <a:srgbClr val="EC5A96"/>
                </a:solidFill>
                <a:latin typeface="Segoe UI"/>
              </a:rPr>
              <a:t>54%</a:t>
            </a:r>
          </a:p>
          <a:p>
            <a:pPr algn="l">
              <a:spcAft>
                <a:spcPts val="0"/>
              </a:spcAft>
            </a:pPr>
            <a:r>
              <a:rPr sz="1400" b="0">
                <a:solidFill>
                  <a:srgbClr val="2D2A3A"/>
                </a:solidFill>
                <a:latin typeface="Segoe UI"/>
              </a:rPr>
              <a:t>in April, May and June</a:t>
            </a:r>
          </a:p>
        </p:txBody>
      </p:sp>
      <p:sp>
        <p:nvSpPr>
          <p:cNvPr id="13" name="Rectangle 12"/>
          <p:cNvSpPr/>
          <p:nvPr/>
        </p:nvSpPr>
        <p:spPr>
          <a:xfrm>
            <a:off x="8503920" y="3438144"/>
            <a:ext cx="64008" cy="1097280"/>
          </a:xfrm>
          <a:prstGeom prst="rect">
            <a:avLst/>
          </a:prstGeom>
          <a:solidFill>
            <a:srgbClr val="703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32520" y="3383280"/>
            <a:ext cx="3063240" cy="1280160"/>
          </a:xfrm>
          <a:prstGeom prst="rect">
            <a:avLst/>
          </a:prstGeom>
          <a:noFill/>
        </p:spPr>
        <p:txBody>
          <a:bodyPr wrap="square" anchor="t" lIns="0" rIns="0" tIns="0" bIns="0">
            <a:spAutoFit/>
          </a:bodyPr>
          <a:lstStyle/>
          <a:p>
            <a:pPr algn="l">
              <a:spcAft>
                <a:spcPts val="200"/>
              </a:spcAft>
            </a:pPr>
            <a:r>
              <a:rPr sz="4400" b="1">
                <a:solidFill>
                  <a:srgbClr val="7031C5"/>
                </a:solidFill>
                <a:latin typeface="Segoe UI"/>
              </a:rPr>
              <a:t>9%</a:t>
            </a:r>
          </a:p>
          <a:p>
            <a:pPr algn="l">
              <a:spcAft>
                <a:spcPts val="0"/>
              </a:spcAft>
            </a:pPr>
            <a:r>
              <a:rPr sz="1400" b="0">
                <a:solidFill>
                  <a:srgbClr val="2D2A3A"/>
                </a:solidFill>
                <a:latin typeface="Segoe UI"/>
              </a:rPr>
              <a:t>from November to February</a:t>
            </a:r>
          </a:p>
        </p:txBody>
      </p:sp>
      <p:sp>
        <p:nvSpPr>
          <p:cNvPr id="15" name="Rectangle 14"/>
          <p:cNvSpPr/>
          <p:nvPr/>
        </p:nvSpPr>
        <p:spPr>
          <a:xfrm>
            <a:off x="8503920" y="4992624"/>
            <a:ext cx="64008" cy="1097280"/>
          </a:xfrm>
          <a:prstGeom prst="rect">
            <a:avLst/>
          </a:prstGeom>
          <a:solidFill>
            <a:srgbClr val="2D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32520" y="4937760"/>
            <a:ext cx="3063240" cy="1280160"/>
          </a:xfrm>
          <a:prstGeom prst="rect">
            <a:avLst/>
          </a:prstGeom>
          <a:noFill/>
        </p:spPr>
        <p:txBody>
          <a:bodyPr wrap="square" anchor="t" lIns="0" rIns="0" tIns="0" bIns="0">
            <a:spAutoFit/>
          </a:bodyPr>
          <a:lstStyle/>
          <a:p>
            <a:pPr algn="l">
              <a:spcAft>
                <a:spcPts val="200"/>
              </a:spcAft>
            </a:pPr>
            <a:r>
              <a:rPr sz="2800" b="1">
                <a:solidFill>
                  <a:srgbClr val="2D2A3A"/>
                </a:solidFill>
                <a:latin typeface="Segoe UI"/>
              </a:rPr>
              <a:t>First Aid Kit</a:t>
            </a:r>
          </a:p>
          <a:p>
            <a:pPr algn="l">
              <a:spcAft>
                <a:spcPts val="0"/>
              </a:spcAft>
            </a:pPr>
            <a:r>
              <a:rPr sz="1400" b="0">
                <a:solidFill>
                  <a:srgbClr val="2D2A3A"/>
                </a:solidFill>
                <a:latin typeface="Segoe UI"/>
              </a:rPr>
              <a:t>the one product with no season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1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3C1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EC5A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almpay logo.png"/>
          <p:cNvPicPr>
            <a:picLocks noChangeAspect="1"/>
          </p:cNvPicPr>
          <p:nvPr/>
        </p:nvPicPr>
        <p:blipFill>
          <a:blip r:embed="rId2"/>
          <a:stretch>
            <a:fillRect/>
          </a:stretch>
        </p:blipFill>
        <p:spPr>
          <a:xfrm>
            <a:off x="411480" y="155448"/>
            <a:ext cx="694944" cy="694944"/>
          </a:xfrm>
          <a:prstGeom prst="rect">
            <a:avLst/>
          </a:prstGeom>
        </p:spPr>
      </p:pic>
      <p:sp>
        <p:nvSpPr>
          <p:cNvPr id="5" name="TextBox 4"/>
          <p:cNvSpPr txBox="1"/>
          <p:nvPr/>
        </p:nvSpPr>
        <p:spPr>
          <a:xfrm>
            <a:off x="1325880" y="137160"/>
            <a:ext cx="10424160" cy="731520"/>
          </a:xfrm>
          <a:prstGeom prst="rect">
            <a:avLst/>
          </a:prstGeom>
          <a:noFill/>
        </p:spPr>
        <p:txBody>
          <a:bodyPr wrap="square" anchor="ctr" lIns="0" rIns="0" tIns="0" bIns="0">
            <a:spAutoFit/>
          </a:bodyPr>
          <a:lstStyle/>
          <a:p>
            <a:pPr algn="l">
              <a:spcAft>
                <a:spcPts val="0"/>
              </a:spcAft>
            </a:pPr>
            <a:r>
              <a:rPr sz="2800" b="1">
                <a:solidFill>
                  <a:srgbClr val="FFFFFF"/>
                </a:solidFill>
                <a:latin typeface="Segoe UI"/>
              </a:rPr>
              <a:t>Five things to do</a:t>
            </a:r>
          </a:p>
        </p:txBody>
      </p:sp>
      <p:sp>
        <p:nvSpPr>
          <p:cNvPr id="6" name="TextBox 5"/>
          <p:cNvSpPr txBox="1"/>
          <p:nvPr/>
        </p:nvSpPr>
        <p:spPr>
          <a:xfrm>
            <a:off x="457200" y="6492240"/>
            <a:ext cx="5486400" cy="274320"/>
          </a:xfrm>
          <a:prstGeom prst="rect">
            <a:avLst/>
          </a:prstGeom>
          <a:noFill/>
        </p:spPr>
        <p:txBody>
          <a:bodyPr wrap="square" anchor="t" lIns="0" rIns="0" tIns="0" bIns="0">
            <a:spAutoFit/>
          </a:bodyPr>
          <a:lstStyle/>
          <a:p>
            <a:pPr algn="l">
              <a:spcAft>
                <a:spcPts val="0"/>
              </a:spcAft>
            </a:pPr>
            <a:r>
              <a:rPr sz="1000" b="0">
                <a:solidFill>
                  <a:srgbClr val="6B6580"/>
                </a:solidFill>
                <a:latin typeface="Segoe UI"/>
              </a:rPr>
              <a:t>Palmpay sales analysis  |  2007 to 2011</a:t>
            </a:r>
          </a:p>
        </p:txBody>
      </p:sp>
      <p:sp>
        <p:nvSpPr>
          <p:cNvPr id="7" name="TextBox 6"/>
          <p:cNvSpPr txBox="1"/>
          <p:nvPr/>
        </p:nvSpPr>
        <p:spPr>
          <a:xfrm>
            <a:off x="11155680" y="6492240"/>
            <a:ext cx="594360" cy="274320"/>
          </a:xfrm>
          <a:prstGeom prst="rect">
            <a:avLst/>
          </a:prstGeom>
          <a:noFill/>
        </p:spPr>
        <p:txBody>
          <a:bodyPr wrap="square" anchor="t" lIns="0" rIns="0" tIns="0" bIns="0">
            <a:spAutoFit/>
          </a:bodyPr>
          <a:lstStyle/>
          <a:p>
            <a:pPr algn="r">
              <a:spcAft>
                <a:spcPts val="0"/>
              </a:spcAft>
            </a:pPr>
            <a:r>
              <a:rPr sz="1000" b="0">
                <a:solidFill>
                  <a:srgbClr val="6B6580"/>
                </a:solidFill>
                <a:latin typeface="Segoe UI"/>
              </a:rPr>
              <a:t>10</a:t>
            </a:r>
          </a:p>
        </p:txBody>
      </p:sp>
      <p:sp>
        <p:nvSpPr>
          <p:cNvPr id="8" name="Rounded Rectangle 7"/>
          <p:cNvSpPr/>
          <p:nvPr/>
        </p:nvSpPr>
        <p:spPr>
          <a:xfrm>
            <a:off x="411480" y="1737360"/>
            <a:ext cx="2103120" cy="3383280"/>
          </a:xfrm>
          <a:prstGeom prst="roundRect">
            <a:avLst>
              <a:gd name="adj" fmla="val 3000"/>
            </a:avLst>
          </a:prstGeom>
          <a:solidFill>
            <a:srgbClr val="FFFFFF"/>
          </a:solidFill>
          <a:ln w="9525">
            <a:solidFill>
              <a:srgbClr val="E4DD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057400"/>
            <a:ext cx="914400" cy="914400"/>
          </a:xfrm>
          <a:prstGeom prst="ellipse">
            <a:avLst/>
          </a:prstGeom>
          <a:solidFill>
            <a:srgbClr val="EC5A9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3400" b="1">
                <a:solidFill>
                  <a:srgbClr val="FFFFFF"/>
                </a:solidFill>
                <a:latin typeface="Segoe UI"/>
              </a:rPr>
              <a:t>1</a:t>
            </a:r>
          </a:p>
        </p:txBody>
      </p:sp>
      <p:sp>
        <p:nvSpPr>
          <p:cNvPr id="10" name="TextBox 9"/>
          <p:cNvSpPr txBox="1"/>
          <p:nvPr/>
        </p:nvSpPr>
        <p:spPr>
          <a:xfrm>
            <a:off x="594360" y="3291840"/>
            <a:ext cx="1737360" cy="2103120"/>
          </a:xfrm>
          <a:prstGeom prst="rect">
            <a:avLst/>
          </a:prstGeom>
          <a:noFill/>
        </p:spPr>
        <p:txBody>
          <a:bodyPr wrap="square" anchor="t" lIns="0" rIns="0" tIns="0" bIns="0">
            <a:spAutoFit/>
          </a:bodyPr>
          <a:lstStyle/>
          <a:p>
            <a:pPr algn="ctr">
              <a:spcAft>
                <a:spcPts val="0"/>
              </a:spcAft>
            </a:pPr>
            <a:r>
              <a:rPr sz="2000" b="1">
                <a:solidFill>
                  <a:srgbClr val="2D2A3A"/>
                </a:solidFill>
                <a:latin typeface="Segoe UI"/>
              </a:rPr>
              <a:t>Win back US customers</a:t>
            </a:r>
          </a:p>
        </p:txBody>
      </p:sp>
      <p:sp>
        <p:nvSpPr>
          <p:cNvPr id="11" name="Rounded Rectangle 10"/>
          <p:cNvSpPr/>
          <p:nvPr/>
        </p:nvSpPr>
        <p:spPr>
          <a:xfrm>
            <a:off x="2697480" y="1737360"/>
            <a:ext cx="2103120" cy="3383280"/>
          </a:xfrm>
          <a:prstGeom prst="roundRect">
            <a:avLst>
              <a:gd name="adj" fmla="val 3000"/>
            </a:avLst>
          </a:prstGeom>
          <a:solidFill>
            <a:srgbClr val="FFFFFF"/>
          </a:solidFill>
          <a:ln w="9525">
            <a:solidFill>
              <a:srgbClr val="E4DD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291840" y="2057400"/>
            <a:ext cx="914400" cy="914400"/>
          </a:xfrm>
          <a:prstGeom prst="ellipse">
            <a:avLst/>
          </a:prstGeom>
          <a:solidFill>
            <a:srgbClr val="7031C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3400" b="1">
                <a:solidFill>
                  <a:srgbClr val="FFFFFF"/>
                </a:solidFill>
                <a:latin typeface="Segoe UI"/>
              </a:rPr>
              <a:t>2</a:t>
            </a:r>
          </a:p>
        </p:txBody>
      </p:sp>
      <p:sp>
        <p:nvSpPr>
          <p:cNvPr id="13" name="TextBox 12"/>
          <p:cNvSpPr txBox="1"/>
          <p:nvPr/>
        </p:nvSpPr>
        <p:spPr>
          <a:xfrm>
            <a:off x="2880360" y="3291840"/>
            <a:ext cx="1737360" cy="2103120"/>
          </a:xfrm>
          <a:prstGeom prst="rect">
            <a:avLst/>
          </a:prstGeom>
          <a:noFill/>
        </p:spPr>
        <p:txBody>
          <a:bodyPr wrap="square" anchor="t" lIns="0" rIns="0" tIns="0" bIns="0">
            <a:spAutoFit/>
          </a:bodyPr>
          <a:lstStyle/>
          <a:p>
            <a:pPr algn="ctr">
              <a:spcAft>
                <a:spcPts val="0"/>
              </a:spcAft>
            </a:pPr>
            <a:r>
              <a:rPr sz="2000" b="1">
                <a:solidFill>
                  <a:srgbClr val="2D2A3A"/>
                </a:solidFill>
                <a:latin typeface="Segoe UI"/>
              </a:rPr>
              <a:t>Rethink US discounts</a:t>
            </a:r>
          </a:p>
        </p:txBody>
      </p:sp>
      <p:sp>
        <p:nvSpPr>
          <p:cNvPr id="14" name="Rounded Rectangle 13"/>
          <p:cNvSpPr/>
          <p:nvPr/>
        </p:nvSpPr>
        <p:spPr>
          <a:xfrm>
            <a:off x="4983480" y="1737360"/>
            <a:ext cx="2103120" cy="3383280"/>
          </a:xfrm>
          <a:prstGeom prst="roundRect">
            <a:avLst>
              <a:gd name="adj" fmla="val 3000"/>
            </a:avLst>
          </a:prstGeom>
          <a:solidFill>
            <a:srgbClr val="FFFFFF"/>
          </a:solidFill>
          <a:ln w="9525">
            <a:solidFill>
              <a:srgbClr val="E4DD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577840" y="2057400"/>
            <a:ext cx="914400" cy="914400"/>
          </a:xfrm>
          <a:prstGeom prst="ellipse">
            <a:avLst/>
          </a:prstGeom>
          <a:solidFill>
            <a:srgbClr val="7031C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3400" b="1">
                <a:solidFill>
                  <a:srgbClr val="FFFFFF"/>
                </a:solidFill>
                <a:latin typeface="Segoe UI"/>
              </a:rPr>
              <a:t>3</a:t>
            </a:r>
          </a:p>
        </p:txBody>
      </p:sp>
      <p:sp>
        <p:nvSpPr>
          <p:cNvPr id="16" name="TextBox 15"/>
          <p:cNvSpPr txBox="1"/>
          <p:nvPr/>
        </p:nvSpPr>
        <p:spPr>
          <a:xfrm>
            <a:off x="5166360" y="3291840"/>
            <a:ext cx="1737360" cy="2103120"/>
          </a:xfrm>
          <a:prstGeom prst="rect">
            <a:avLst/>
          </a:prstGeom>
          <a:noFill/>
        </p:spPr>
        <p:txBody>
          <a:bodyPr wrap="square" anchor="t" lIns="0" rIns="0" tIns="0" bIns="0">
            <a:spAutoFit/>
          </a:bodyPr>
          <a:lstStyle/>
          <a:p>
            <a:pPr algn="ctr">
              <a:spcAft>
                <a:spcPts val="0"/>
              </a:spcAft>
            </a:pPr>
            <a:r>
              <a:rPr sz="2000" b="1">
                <a:solidFill>
                  <a:srgbClr val="2D2A3A"/>
                </a:solidFill>
                <a:latin typeface="Segoe UI"/>
              </a:rPr>
              <a:t>Back the three main bike lines</a:t>
            </a:r>
          </a:p>
        </p:txBody>
      </p:sp>
      <p:sp>
        <p:nvSpPr>
          <p:cNvPr id="17" name="Rounded Rectangle 16"/>
          <p:cNvSpPr/>
          <p:nvPr/>
        </p:nvSpPr>
        <p:spPr>
          <a:xfrm>
            <a:off x="7269480" y="1737360"/>
            <a:ext cx="2103120" cy="3383280"/>
          </a:xfrm>
          <a:prstGeom prst="roundRect">
            <a:avLst>
              <a:gd name="adj" fmla="val 3000"/>
            </a:avLst>
          </a:prstGeom>
          <a:solidFill>
            <a:srgbClr val="FFFFFF"/>
          </a:solidFill>
          <a:ln w="9525">
            <a:solidFill>
              <a:srgbClr val="E4DD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863840" y="2057400"/>
            <a:ext cx="914400" cy="914400"/>
          </a:xfrm>
          <a:prstGeom prst="ellipse">
            <a:avLst/>
          </a:prstGeom>
          <a:solidFill>
            <a:srgbClr val="7031C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3400" b="1">
                <a:solidFill>
                  <a:srgbClr val="FFFFFF"/>
                </a:solidFill>
                <a:latin typeface="Segoe UI"/>
              </a:rPr>
              <a:t>4</a:t>
            </a:r>
          </a:p>
        </p:txBody>
      </p:sp>
      <p:sp>
        <p:nvSpPr>
          <p:cNvPr id="19" name="TextBox 18"/>
          <p:cNvSpPr txBox="1"/>
          <p:nvPr/>
        </p:nvSpPr>
        <p:spPr>
          <a:xfrm>
            <a:off x="7452360" y="3291840"/>
            <a:ext cx="1737360" cy="2103120"/>
          </a:xfrm>
          <a:prstGeom prst="rect">
            <a:avLst/>
          </a:prstGeom>
          <a:noFill/>
        </p:spPr>
        <p:txBody>
          <a:bodyPr wrap="square" anchor="t" lIns="0" rIns="0" tIns="0" bIns="0">
            <a:spAutoFit/>
          </a:bodyPr>
          <a:lstStyle/>
          <a:p>
            <a:pPr algn="ctr">
              <a:spcAft>
                <a:spcPts val="0"/>
              </a:spcAft>
            </a:pPr>
            <a:r>
              <a:rPr sz="2000" b="1">
                <a:solidFill>
                  <a:srgbClr val="2D2A3A"/>
                </a:solidFill>
                <a:latin typeface="Segoe UI"/>
              </a:rPr>
              <a:t>Fix or drop the Fixed Gear Bike Plus</a:t>
            </a:r>
          </a:p>
        </p:txBody>
      </p:sp>
      <p:sp>
        <p:nvSpPr>
          <p:cNvPr id="20" name="Rounded Rectangle 19"/>
          <p:cNvSpPr/>
          <p:nvPr/>
        </p:nvSpPr>
        <p:spPr>
          <a:xfrm>
            <a:off x="9555480" y="1737360"/>
            <a:ext cx="2103120" cy="3383280"/>
          </a:xfrm>
          <a:prstGeom prst="roundRect">
            <a:avLst>
              <a:gd name="adj" fmla="val 3000"/>
            </a:avLst>
          </a:prstGeom>
          <a:solidFill>
            <a:srgbClr val="FFFFFF"/>
          </a:solidFill>
          <a:ln w="9525">
            <a:solidFill>
              <a:srgbClr val="E4DD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149840" y="2057400"/>
            <a:ext cx="914400" cy="914400"/>
          </a:xfrm>
          <a:prstGeom prst="ellipse">
            <a:avLst/>
          </a:prstGeom>
          <a:solidFill>
            <a:srgbClr val="7031C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3400" b="1">
                <a:solidFill>
                  <a:srgbClr val="FFFFFF"/>
                </a:solidFill>
                <a:latin typeface="Segoe UI"/>
              </a:rPr>
              <a:t>5</a:t>
            </a:r>
          </a:p>
        </p:txBody>
      </p:sp>
      <p:sp>
        <p:nvSpPr>
          <p:cNvPr id="22" name="TextBox 21"/>
          <p:cNvSpPr txBox="1"/>
          <p:nvPr/>
        </p:nvSpPr>
        <p:spPr>
          <a:xfrm>
            <a:off x="9738359" y="3291840"/>
            <a:ext cx="1737360" cy="2103120"/>
          </a:xfrm>
          <a:prstGeom prst="rect">
            <a:avLst/>
          </a:prstGeom>
          <a:noFill/>
        </p:spPr>
        <p:txBody>
          <a:bodyPr wrap="square" anchor="t" lIns="0" rIns="0" tIns="0" bIns="0">
            <a:spAutoFit/>
          </a:bodyPr>
          <a:lstStyle/>
          <a:p>
            <a:pPr algn="ctr">
              <a:spcAft>
                <a:spcPts val="0"/>
              </a:spcAft>
            </a:pPr>
            <a:r>
              <a:rPr sz="2000" b="1">
                <a:solidFill>
                  <a:srgbClr val="2D2A3A"/>
                </a:solidFill>
                <a:latin typeface="Segoe UI"/>
              </a:rPr>
              <a:t>Plan around the season</a:t>
            </a:r>
          </a:p>
        </p:txBody>
      </p:sp>
      <p:sp>
        <p:nvSpPr>
          <p:cNvPr id="23" name="TextBox 22"/>
          <p:cNvSpPr txBox="1"/>
          <p:nvPr/>
        </p:nvSpPr>
        <p:spPr>
          <a:xfrm>
            <a:off x="548640" y="5440680"/>
            <a:ext cx="10972800" cy="457200"/>
          </a:xfrm>
          <a:prstGeom prst="rect">
            <a:avLst/>
          </a:prstGeom>
          <a:noFill/>
        </p:spPr>
        <p:txBody>
          <a:bodyPr wrap="square" anchor="t" lIns="0" rIns="0" tIns="0" bIns="0">
            <a:spAutoFit/>
          </a:bodyPr>
          <a:lstStyle/>
          <a:p>
            <a:pPr algn="l">
              <a:spcAft>
                <a:spcPts val="0"/>
              </a:spcAft>
            </a:pPr>
            <a:r>
              <a:rPr sz="1600" b="0">
                <a:solidFill>
                  <a:srgbClr val="6B6580"/>
                </a:solidFill>
                <a:latin typeface="Segoe UI"/>
              </a:rPr>
              <a:t>Biggest gap first. None of them needs new data to begin.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1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3C1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EC5A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almpay logo.png"/>
          <p:cNvPicPr>
            <a:picLocks noChangeAspect="1"/>
          </p:cNvPicPr>
          <p:nvPr/>
        </p:nvPicPr>
        <p:blipFill>
          <a:blip r:embed="rId2"/>
          <a:stretch>
            <a:fillRect/>
          </a:stretch>
        </p:blipFill>
        <p:spPr>
          <a:xfrm>
            <a:off x="411480" y="155448"/>
            <a:ext cx="694944" cy="694944"/>
          </a:xfrm>
          <a:prstGeom prst="rect">
            <a:avLst/>
          </a:prstGeom>
        </p:spPr>
      </p:pic>
      <p:sp>
        <p:nvSpPr>
          <p:cNvPr id="5" name="TextBox 4"/>
          <p:cNvSpPr txBox="1"/>
          <p:nvPr/>
        </p:nvSpPr>
        <p:spPr>
          <a:xfrm>
            <a:off x="1325880" y="137160"/>
            <a:ext cx="10424160" cy="731520"/>
          </a:xfrm>
          <a:prstGeom prst="rect">
            <a:avLst/>
          </a:prstGeom>
          <a:noFill/>
        </p:spPr>
        <p:txBody>
          <a:bodyPr wrap="square" anchor="ctr" lIns="0" rIns="0" tIns="0" bIns="0">
            <a:spAutoFit/>
          </a:bodyPr>
          <a:lstStyle/>
          <a:p>
            <a:pPr algn="l">
              <a:spcAft>
                <a:spcPts val="0"/>
              </a:spcAft>
            </a:pPr>
            <a:r>
              <a:rPr sz="2800" b="1">
                <a:solidFill>
                  <a:srgbClr val="FFFFFF"/>
                </a:solidFill>
                <a:latin typeface="Segoe UI"/>
              </a:rPr>
              <a:t>Sound but uneven</a:t>
            </a:r>
          </a:p>
        </p:txBody>
      </p:sp>
      <p:sp>
        <p:nvSpPr>
          <p:cNvPr id="6" name="TextBox 5"/>
          <p:cNvSpPr txBox="1"/>
          <p:nvPr/>
        </p:nvSpPr>
        <p:spPr>
          <a:xfrm>
            <a:off x="457200" y="6492240"/>
            <a:ext cx="5486400" cy="274320"/>
          </a:xfrm>
          <a:prstGeom prst="rect">
            <a:avLst/>
          </a:prstGeom>
          <a:noFill/>
        </p:spPr>
        <p:txBody>
          <a:bodyPr wrap="square" anchor="t" lIns="0" rIns="0" tIns="0" bIns="0">
            <a:spAutoFit/>
          </a:bodyPr>
          <a:lstStyle/>
          <a:p>
            <a:pPr algn="l">
              <a:spcAft>
                <a:spcPts val="0"/>
              </a:spcAft>
            </a:pPr>
            <a:r>
              <a:rPr sz="1000" b="0">
                <a:solidFill>
                  <a:srgbClr val="6B6580"/>
                </a:solidFill>
                <a:latin typeface="Segoe UI"/>
              </a:rPr>
              <a:t>Palmpay sales analysis  |  2007 to 2011</a:t>
            </a:r>
          </a:p>
        </p:txBody>
      </p:sp>
      <p:sp>
        <p:nvSpPr>
          <p:cNvPr id="7" name="TextBox 6"/>
          <p:cNvSpPr txBox="1"/>
          <p:nvPr/>
        </p:nvSpPr>
        <p:spPr>
          <a:xfrm>
            <a:off x="11155680" y="6492240"/>
            <a:ext cx="594360" cy="274320"/>
          </a:xfrm>
          <a:prstGeom prst="rect">
            <a:avLst/>
          </a:prstGeom>
          <a:noFill/>
        </p:spPr>
        <p:txBody>
          <a:bodyPr wrap="square" anchor="t" lIns="0" rIns="0" tIns="0" bIns="0">
            <a:spAutoFit/>
          </a:bodyPr>
          <a:lstStyle/>
          <a:p>
            <a:pPr algn="r">
              <a:spcAft>
                <a:spcPts val="0"/>
              </a:spcAft>
            </a:pPr>
            <a:r>
              <a:rPr sz="1000" b="0">
                <a:solidFill>
                  <a:srgbClr val="6B6580"/>
                </a:solidFill>
                <a:latin typeface="Segoe UI"/>
              </a:rPr>
              <a:t>11</a:t>
            </a:r>
          </a:p>
        </p:txBody>
      </p:sp>
      <p:sp>
        <p:nvSpPr>
          <p:cNvPr id="8" name="TextBox 7"/>
          <p:cNvSpPr txBox="1"/>
          <p:nvPr/>
        </p:nvSpPr>
        <p:spPr>
          <a:xfrm>
            <a:off x="548640" y="1371600"/>
            <a:ext cx="11064240" cy="822960"/>
          </a:xfrm>
          <a:prstGeom prst="rect">
            <a:avLst/>
          </a:prstGeom>
          <a:noFill/>
        </p:spPr>
        <p:txBody>
          <a:bodyPr wrap="square" anchor="t" lIns="0" rIns="0" tIns="0" bIns="0">
            <a:spAutoFit/>
          </a:bodyPr>
          <a:lstStyle/>
          <a:p>
            <a:pPr algn="l">
              <a:spcAft>
                <a:spcPts val="0"/>
              </a:spcAft>
            </a:pPr>
            <a:r>
              <a:rPr sz="2400" b="1">
                <a:solidFill>
                  <a:srgbClr val="3C1A6E"/>
                </a:solidFill>
                <a:latin typeface="Segoe UI"/>
              </a:rPr>
              <a:t>Germany and three bike lines carry Palmpay. The US has not recovered from 2008.</a:t>
            </a:r>
          </a:p>
        </p:txBody>
      </p:sp>
      <p:sp>
        <p:nvSpPr>
          <p:cNvPr id="9" name="Rounded Rectangle 8"/>
          <p:cNvSpPr/>
          <p:nvPr/>
        </p:nvSpPr>
        <p:spPr>
          <a:xfrm>
            <a:off x="548640" y="2651760"/>
            <a:ext cx="3474720" cy="1737360"/>
          </a:xfrm>
          <a:prstGeom prst="roundRect">
            <a:avLst>
              <a:gd name="adj" fmla="val 6000"/>
            </a:avLst>
          </a:prstGeom>
          <a:solidFill>
            <a:srgbClr val="EC5A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743200"/>
            <a:ext cx="822960" cy="1554480"/>
          </a:xfrm>
          <a:prstGeom prst="rect">
            <a:avLst/>
          </a:prstGeom>
          <a:noFill/>
        </p:spPr>
        <p:txBody>
          <a:bodyPr wrap="square" anchor="ctr" lIns="0" rIns="0" tIns="0" bIns="0">
            <a:spAutoFit/>
          </a:bodyPr>
          <a:lstStyle/>
          <a:p>
            <a:pPr algn="l">
              <a:spcAft>
                <a:spcPts val="0"/>
              </a:spcAft>
            </a:pPr>
            <a:r>
              <a:rPr sz="5400" b="1">
                <a:solidFill>
                  <a:srgbClr val="FFFFFF"/>
                </a:solidFill>
                <a:latin typeface="Segoe UI"/>
              </a:rPr>
              <a:t>1</a:t>
            </a:r>
          </a:p>
        </p:txBody>
      </p:sp>
      <p:sp>
        <p:nvSpPr>
          <p:cNvPr id="11" name="TextBox 10"/>
          <p:cNvSpPr txBox="1"/>
          <p:nvPr/>
        </p:nvSpPr>
        <p:spPr>
          <a:xfrm>
            <a:off x="1645919" y="2743200"/>
            <a:ext cx="2194560" cy="1554480"/>
          </a:xfrm>
          <a:prstGeom prst="rect">
            <a:avLst/>
          </a:prstGeom>
          <a:noFill/>
        </p:spPr>
        <p:txBody>
          <a:bodyPr wrap="square" anchor="ctr" lIns="0" rIns="0" tIns="0" bIns="0">
            <a:spAutoFit/>
          </a:bodyPr>
          <a:lstStyle/>
          <a:p>
            <a:pPr algn="l">
              <a:spcAft>
                <a:spcPts val="0"/>
              </a:spcAft>
            </a:pPr>
            <a:r>
              <a:rPr sz="1800" b="1">
                <a:solidFill>
                  <a:srgbClr val="FFFFFF"/>
                </a:solidFill>
                <a:latin typeface="Segoe UI"/>
              </a:rPr>
              <a:t>Win back US customers</a:t>
            </a:r>
          </a:p>
        </p:txBody>
      </p:sp>
      <p:sp>
        <p:nvSpPr>
          <p:cNvPr id="12" name="Rounded Rectangle 11"/>
          <p:cNvSpPr/>
          <p:nvPr/>
        </p:nvSpPr>
        <p:spPr>
          <a:xfrm>
            <a:off x="4297679" y="2651760"/>
            <a:ext cx="3474720" cy="1737360"/>
          </a:xfrm>
          <a:prstGeom prst="roundRect">
            <a:avLst>
              <a:gd name="adj" fmla="val 6000"/>
            </a:avLst>
          </a:prstGeom>
          <a:solidFill>
            <a:srgbClr val="703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1999" y="2743200"/>
            <a:ext cx="822960" cy="1554480"/>
          </a:xfrm>
          <a:prstGeom prst="rect">
            <a:avLst/>
          </a:prstGeom>
          <a:noFill/>
        </p:spPr>
        <p:txBody>
          <a:bodyPr wrap="square" anchor="ctr" lIns="0" rIns="0" tIns="0" bIns="0">
            <a:spAutoFit/>
          </a:bodyPr>
          <a:lstStyle/>
          <a:p>
            <a:pPr algn="l">
              <a:spcAft>
                <a:spcPts val="0"/>
              </a:spcAft>
            </a:pPr>
            <a:r>
              <a:rPr sz="5400" b="1">
                <a:solidFill>
                  <a:srgbClr val="D9CCF2"/>
                </a:solidFill>
                <a:latin typeface="Segoe UI"/>
              </a:rPr>
              <a:t>2</a:t>
            </a:r>
          </a:p>
        </p:txBody>
      </p:sp>
      <p:sp>
        <p:nvSpPr>
          <p:cNvPr id="14" name="TextBox 13"/>
          <p:cNvSpPr txBox="1"/>
          <p:nvPr/>
        </p:nvSpPr>
        <p:spPr>
          <a:xfrm>
            <a:off x="5394959" y="2743200"/>
            <a:ext cx="2194560" cy="1554480"/>
          </a:xfrm>
          <a:prstGeom prst="rect">
            <a:avLst/>
          </a:prstGeom>
          <a:noFill/>
        </p:spPr>
        <p:txBody>
          <a:bodyPr wrap="square" anchor="ctr" lIns="0" rIns="0" tIns="0" bIns="0">
            <a:spAutoFit/>
          </a:bodyPr>
          <a:lstStyle/>
          <a:p>
            <a:pPr algn="l">
              <a:spcAft>
                <a:spcPts val="0"/>
              </a:spcAft>
            </a:pPr>
            <a:r>
              <a:rPr sz="1800" b="1">
                <a:solidFill>
                  <a:srgbClr val="FFFFFF"/>
                </a:solidFill>
                <a:latin typeface="Segoe UI"/>
              </a:rPr>
              <a:t>Protect touring, road and off-road bikes</a:t>
            </a:r>
          </a:p>
        </p:txBody>
      </p:sp>
      <p:sp>
        <p:nvSpPr>
          <p:cNvPr id="15" name="Rounded Rectangle 14"/>
          <p:cNvSpPr/>
          <p:nvPr/>
        </p:nvSpPr>
        <p:spPr>
          <a:xfrm>
            <a:off x="8046719" y="2651760"/>
            <a:ext cx="3474720" cy="1737360"/>
          </a:xfrm>
          <a:prstGeom prst="roundRect">
            <a:avLst>
              <a:gd name="adj" fmla="val 6000"/>
            </a:avLst>
          </a:prstGeom>
          <a:solidFill>
            <a:srgbClr val="703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0" y="2743200"/>
            <a:ext cx="822960" cy="1554480"/>
          </a:xfrm>
          <a:prstGeom prst="rect">
            <a:avLst/>
          </a:prstGeom>
          <a:noFill/>
        </p:spPr>
        <p:txBody>
          <a:bodyPr wrap="square" anchor="ctr" lIns="0" rIns="0" tIns="0" bIns="0">
            <a:spAutoFit/>
          </a:bodyPr>
          <a:lstStyle/>
          <a:p>
            <a:pPr algn="l">
              <a:spcAft>
                <a:spcPts val="0"/>
              </a:spcAft>
            </a:pPr>
            <a:r>
              <a:rPr sz="5400" b="1">
                <a:solidFill>
                  <a:srgbClr val="D9CCF2"/>
                </a:solidFill>
                <a:latin typeface="Segoe UI"/>
              </a:rPr>
              <a:t>3</a:t>
            </a:r>
          </a:p>
        </p:txBody>
      </p:sp>
      <p:sp>
        <p:nvSpPr>
          <p:cNvPr id="17" name="TextBox 16"/>
          <p:cNvSpPr txBox="1"/>
          <p:nvPr/>
        </p:nvSpPr>
        <p:spPr>
          <a:xfrm>
            <a:off x="9143999" y="2743200"/>
            <a:ext cx="2194560" cy="1554480"/>
          </a:xfrm>
          <a:prstGeom prst="rect">
            <a:avLst/>
          </a:prstGeom>
          <a:noFill/>
        </p:spPr>
        <p:txBody>
          <a:bodyPr wrap="square" anchor="ctr" lIns="0" rIns="0" tIns="0" bIns="0">
            <a:spAutoFit/>
          </a:bodyPr>
          <a:lstStyle/>
          <a:p>
            <a:pPr algn="l">
              <a:spcAft>
                <a:spcPts val="0"/>
              </a:spcAft>
            </a:pPr>
            <a:r>
              <a:rPr sz="1800" b="1">
                <a:solidFill>
                  <a:srgbClr val="FFFFFF"/>
                </a:solidFill>
                <a:latin typeface="Segoe UI"/>
              </a:rPr>
              <a:t>Plan stock around April to June</a:t>
            </a:r>
          </a:p>
        </p:txBody>
      </p:sp>
      <p:sp>
        <p:nvSpPr>
          <p:cNvPr id="18" name="TextBox 17"/>
          <p:cNvSpPr txBox="1"/>
          <p:nvPr/>
        </p:nvSpPr>
        <p:spPr>
          <a:xfrm>
            <a:off x="548640" y="4937760"/>
            <a:ext cx="11064240" cy="1097280"/>
          </a:xfrm>
          <a:prstGeom prst="rect">
            <a:avLst/>
          </a:prstGeom>
          <a:noFill/>
        </p:spPr>
        <p:txBody>
          <a:bodyPr wrap="square" anchor="t" lIns="0" rIns="0" tIns="0" bIns="0">
            <a:spAutoFit/>
          </a:bodyPr>
          <a:lstStyle/>
          <a:p>
            <a:pPr algn="l">
              <a:spcAft>
                <a:spcPts val="0"/>
              </a:spcAft>
            </a:pPr>
            <a:r>
              <a:rPr sz="1600" b="0">
                <a:solidFill>
                  <a:srgbClr val="6B6580"/>
                </a:solidFill>
                <a:latin typeface="Segoe UI"/>
              </a:rPr>
              <a:t>Limits: five years, two countries, ending in 2011. The data shows what happened, not why.</a:t>
            </a:r>
          </a:p>
          <a:p>
            <a:pPr algn="l">
              <a:spcAft>
                <a:spcPts val="0"/>
              </a:spcAft>
            </a:pPr>
            <a:r>
              <a:rPr sz="2200" b="1">
                <a:solidFill>
                  <a:srgbClr val="7031C5"/>
                </a:solidFill>
                <a:latin typeface="Segoe UI"/>
              </a:rPr>
              <a:t>Thank you. Questions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